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6" r:id="rId9"/>
    <p:sldId id="263" r:id="rId10"/>
    <p:sldId id="264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Közepesen sötét stílus 2 – 3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Világos stílus 1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Közepesen sötét stílus 4 – 3. jelölőszín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Közepesen sötét stílus 4 – 4. jelölőszín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Közepesen sötét stílus 4 – 6. jelölőszín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FD4443E-F989-4FC4-A0C8-D5A2AF1F390B}" styleName="Sötét stílus 1 – 5. jelölőszín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ötét stílus 1 – 1. jelölőszín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2C8C85-51F0-491E-9774-3900AFEF0FD7}" styleName="Világos stílus 2 – 6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374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686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727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310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043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675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074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918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364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587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0544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A4ACC-B0DA-4230-AFEE-ECE5AEDFE7EA}" type="datetimeFigureOut">
              <a:rPr lang="hu-HU" smtClean="0"/>
              <a:t>2022. 06. 10.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76187-D95F-48CA-B1CA-EE805A2288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588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FT-operatori_naplo_projekt_0.1</a:t>
            </a:r>
            <a:br>
              <a:rPr lang="hu-HU" dirty="0" smtClean="0"/>
            </a:b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err="1" smtClean="0"/>
              <a:t>Bodyshild+Adatszerkezet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Somogyi Tibor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4770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36014" y="110145"/>
            <a:ext cx="10515600" cy="1325563"/>
          </a:xfrm>
        </p:spPr>
        <p:txBody>
          <a:bodyPr/>
          <a:lstStyle/>
          <a:p>
            <a:pPr algn="ctr"/>
            <a:r>
              <a:rPr lang="hu-HU" dirty="0" smtClean="0"/>
              <a:t>Adatbázis megvalósítás</a:t>
            </a:r>
            <a:endParaRPr lang="hu-HU" dirty="0"/>
          </a:p>
        </p:txBody>
      </p:sp>
      <p:sp>
        <p:nvSpPr>
          <p:cNvPr id="5" name="Téglalap 4"/>
          <p:cNvSpPr/>
          <p:nvPr/>
        </p:nvSpPr>
        <p:spPr>
          <a:xfrm>
            <a:off x="34291" y="1755809"/>
            <a:ext cx="897775" cy="523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LDAP</a:t>
            </a:r>
            <a:endParaRPr lang="hu-HU" dirty="0"/>
          </a:p>
        </p:txBody>
      </p:sp>
      <p:grpSp>
        <p:nvGrpSpPr>
          <p:cNvPr id="37" name="Csoportba foglalás 36"/>
          <p:cNvGrpSpPr/>
          <p:nvPr/>
        </p:nvGrpSpPr>
        <p:grpSpPr>
          <a:xfrm>
            <a:off x="4451124" y="1272518"/>
            <a:ext cx="4321719" cy="2734217"/>
            <a:chOff x="6774873" y="1618743"/>
            <a:chExt cx="4218718" cy="2571563"/>
          </a:xfrm>
        </p:grpSpPr>
        <p:sp>
          <p:nvSpPr>
            <p:cNvPr id="19" name="Téglalap 18"/>
            <p:cNvSpPr/>
            <p:nvPr/>
          </p:nvSpPr>
          <p:spPr>
            <a:xfrm>
              <a:off x="6774873" y="1669222"/>
              <a:ext cx="4218718" cy="25187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Szövegdoboz 19"/>
            <p:cNvSpPr txBox="1"/>
            <p:nvPr/>
          </p:nvSpPr>
          <p:spPr>
            <a:xfrm>
              <a:off x="8124651" y="1618743"/>
              <a:ext cx="177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bg1"/>
                  </a:solidFill>
                </a:rPr>
                <a:t>o</a:t>
              </a:r>
              <a:r>
                <a:rPr lang="hu-HU" dirty="0" err="1" smtClean="0">
                  <a:solidFill>
                    <a:schemeClr val="bg1"/>
                  </a:solidFill>
                </a:rPr>
                <a:t>perator_naplo</a:t>
              </a:r>
              <a:endParaRPr lang="hu-HU" dirty="0">
                <a:solidFill>
                  <a:schemeClr val="bg1"/>
                </a:solidFill>
              </a:endParaRPr>
            </a:p>
          </p:txBody>
        </p:sp>
        <p:sp>
          <p:nvSpPr>
            <p:cNvPr id="21" name="Szövegdoboz 20"/>
            <p:cNvSpPr txBox="1"/>
            <p:nvPr/>
          </p:nvSpPr>
          <p:spPr>
            <a:xfrm>
              <a:off x="6882945" y="1986855"/>
              <a:ext cx="1388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/>
                <a:t>o</a:t>
              </a:r>
              <a:r>
                <a:rPr lang="hu-HU" dirty="0" err="1" smtClean="0"/>
                <a:t>id</a:t>
              </a:r>
              <a:r>
                <a:rPr lang="hu-HU" dirty="0" smtClean="0"/>
                <a:t> (</a:t>
              </a:r>
              <a:r>
                <a:rPr lang="hu-HU" dirty="0" err="1" smtClean="0"/>
                <a:t>aut</a:t>
              </a:r>
              <a:r>
                <a:rPr lang="hu-HU" dirty="0" smtClean="0"/>
                <a:t>) </a:t>
              </a:r>
              <a:r>
                <a:rPr lang="hu-HU" dirty="0" smtClean="0">
                  <a:solidFill>
                    <a:srgbClr val="FFFF00"/>
                  </a:solidFill>
                </a:rPr>
                <a:t>324</a:t>
              </a:r>
              <a:endParaRPr lang="hu-HU" dirty="0">
                <a:solidFill>
                  <a:srgbClr val="FFFF00"/>
                </a:solidFill>
              </a:endParaRPr>
            </a:p>
          </p:txBody>
        </p:sp>
        <p:sp>
          <p:nvSpPr>
            <p:cNvPr id="22" name="Szövegdoboz 21"/>
            <p:cNvSpPr txBox="1"/>
            <p:nvPr/>
          </p:nvSpPr>
          <p:spPr>
            <a:xfrm>
              <a:off x="6892010" y="2308452"/>
              <a:ext cx="11090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 smtClean="0"/>
                <a:t>kategoria</a:t>
              </a:r>
              <a:r>
                <a:rPr lang="hu-HU" dirty="0" smtClean="0"/>
                <a:t> </a:t>
              </a:r>
              <a:endParaRPr lang="hu-HU" dirty="0"/>
            </a:p>
          </p:txBody>
        </p:sp>
        <p:sp>
          <p:nvSpPr>
            <p:cNvPr id="23" name="Szövegdoboz 22"/>
            <p:cNvSpPr txBox="1"/>
            <p:nvPr/>
          </p:nvSpPr>
          <p:spPr>
            <a:xfrm>
              <a:off x="6882945" y="2609875"/>
              <a:ext cx="1441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/>
                <a:t>l</a:t>
              </a:r>
              <a:r>
                <a:rPr lang="hu-HU" dirty="0" err="1" smtClean="0"/>
                <a:t>eiras</a:t>
              </a:r>
              <a:r>
                <a:rPr lang="hu-HU" dirty="0" smtClean="0"/>
                <a:t> </a:t>
              </a:r>
              <a:r>
                <a:rPr lang="hu-HU" dirty="0" err="1" smtClean="0">
                  <a:solidFill>
                    <a:srgbClr val="FFFF00"/>
                  </a:solidFill>
                </a:rPr>
                <a:t>beazott</a:t>
              </a:r>
              <a:endParaRPr lang="hu-HU" dirty="0">
                <a:solidFill>
                  <a:srgbClr val="FFFF00"/>
                </a:solidFill>
              </a:endParaRPr>
            </a:p>
          </p:txBody>
        </p:sp>
        <p:sp>
          <p:nvSpPr>
            <p:cNvPr id="24" name="Szövegdoboz 23"/>
            <p:cNvSpPr txBox="1"/>
            <p:nvPr/>
          </p:nvSpPr>
          <p:spPr>
            <a:xfrm>
              <a:off x="6894070" y="2898708"/>
              <a:ext cx="28600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 smtClean="0"/>
                <a:t>esemeny_datum</a:t>
              </a:r>
              <a:r>
                <a:rPr lang="hu-HU" dirty="0" smtClean="0"/>
                <a:t> </a:t>
              </a:r>
              <a:r>
                <a:rPr lang="hu-HU" dirty="0" smtClean="0">
                  <a:solidFill>
                    <a:srgbClr val="FFFF00"/>
                  </a:solidFill>
                </a:rPr>
                <a:t>2022.02.08</a:t>
              </a:r>
              <a:endParaRPr lang="hu-HU" dirty="0">
                <a:solidFill>
                  <a:srgbClr val="FFFF00"/>
                </a:solidFill>
              </a:endParaRPr>
            </a:p>
          </p:txBody>
        </p:sp>
        <p:sp>
          <p:nvSpPr>
            <p:cNvPr id="25" name="Szövegdoboz 24"/>
            <p:cNvSpPr txBox="1"/>
            <p:nvPr/>
          </p:nvSpPr>
          <p:spPr>
            <a:xfrm>
              <a:off x="6894071" y="3221125"/>
              <a:ext cx="1554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/>
                <a:t>n</a:t>
              </a:r>
              <a:r>
                <a:rPr lang="hu-HU" dirty="0" err="1" smtClean="0"/>
                <a:t>ev</a:t>
              </a:r>
              <a:r>
                <a:rPr lang="hu-HU" dirty="0" smtClean="0"/>
                <a:t> </a:t>
              </a:r>
              <a:r>
                <a:rPr lang="hu-HU" dirty="0" err="1" smtClean="0">
                  <a:solidFill>
                    <a:srgbClr val="FFFF00"/>
                  </a:solidFill>
                </a:rPr>
                <a:t>somogyi_t</a:t>
              </a:r>
              <a:endParaRPr lang="hu-HU" dirty="0">
                <a:solidFill>
                  <a:srgbClr val="FFFF00"/>
                </a:solidFill>
              </a:endParaRPr>
            </a:p>
          </p:txBody>
        </p:sp>
        <p:sp>
          <p:nvSpPr>
            <p:cNvPr id="26" name="Szövegdoboz 25"/>
            <p:cNvSpPr txBox="1"/>
            <p:nvPr/>
          </p:nvSpPr>
          <p:spPr>
            <a:xfrm>
              <a:off x="6894071" y="3509960"/>
              <a:ext cx="25518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 smtClean="0"/>
                <a:t>rovid_datum</a:t>
              </a:r>
              <a:r>
                <a:rPr lang="hu-HU" dirty="0" smtClean="0"/>
                <a:t> </a:t>
              </a:r>
              <a:r>
                <a:rPr lang="hu-HU" dirty="0" smtClean="0">
                  <a:solidFill>
                    <a:srgbClr val="FFFF00"/>
                  </a:solidFill>
                </a:rPr>
                <a:t>2022.02.08.</a:t>
              </a:r>
              <a:endParaRPr lang="hu-HU" dirty="0">
                <a:solidFill>
                  <a:srgbClr val="FFFF00"/>
                </a:solidFill>
              </a:endParaRPr>
            </a:p>
          </p:txBody>
        </p:sp>
        <p:sp>
          <p:nvSpPr>
            <p:cNvPr id="27" name="Szövegdoboz 26"/>
            <p:cNvSpPr txBox="1"/>
            <p:nvPr/>
          </p:nvSpPr>
          <p:spPr>
            <a:xfrm>
              <a:off x="6894071" y="3820974"/>
              <a:ext cx="40995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 smtClean="0"/>
                <a:t>modositva</a:t>
              </a:r>
              <a:r>
                <a:rPr lang="hu-HU" dirty="0" smtClean="0"/>
                <a:t> </a:t>
              </a:r>
              <a:r>
                <a:rPr lang="hu-HU" dirty="0" smtClean="0">
                  <a:solidFill>
                    <a:srgbClr val="FFFF00"/>
                  </a:solidFill>
                </a:rPr>
                <a:t>224;552..stb </a:t>
              </a:r>
              <a:r>
                <a:rPr lang="hu-HU" dirty="0" smtClean="0">
                  <a:solidFill>
                    <a:schemeClr val="accent2">
                      <a:lumMod val="75000"/>
                    </a:schemeClr>
                  </a:solidFill>
                </a:rPr>
                <a:t>(ha változtatható)</a:t>
              </a:r>
              <a:endParaRPr lang="hu-HU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6" name="Csoportba foglalás 35"/>
          <p:cNvGrpSpPr/>
          <p:nvPr/>
        </p:nvGrpSpPr>
        <p:grpSpPr>
          <a:xfrm>
            <a:off x="9531577" y="1777598"/>
            <a:ext cx="2236253" cy="1229766"/>
            <a:chOff x="4076198" y="4389638"/>
            <a:chExt cx="2236253" cy="1229766"/>
          </a:xfrm>
        </p:grpSpPr>
        <p:sp>
          <p:nvSpPr>
            <p:cNvPr id="3" name="Téglalap 2"/>
            <p:cNvSpPr/>
            <p:nvPr/>
          </p:nvSpPr>
          <p:spPr>
            <a:xfrm>
              <a:off x="4081550" y="4454006"/>
              <a:ext cx="2230901" cy="11653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" name="Szövegdoboz 3"/>
            <p:cNvSpPr txBox="1"/>
            <p:nvPr/>
          </p:nvSpPr>
          <p:spPr>
            <a:xfrm>
              <a:off x="4666263" y="4389638"/>
              <a:ext cx="1056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 smtClean="0">
                  <a:solidFill>
                    <a:schemeClr val="bg1"/>
                  </a:solidFill>
                </a:rPr>
                <a:t>kategoria</a:t>
              </a:r>
              <a:endParaRPr lang="hu-HU" dirty="0">
                <a:solidFill>
                  <a:schemeClr val="bg1"/>
                </a:solidFill>
              </a:endParaRPr>
            </a:p>
          </p:txBody>
        </p:sp>
        <p:sp>
          <p:nvSpPr>
            <p:cNvPr id="10" name="Szövegdoboz 9"/>
            <p:cNvSpPr txBox="1"/>
            <p:nvPr/>
          </p:nvSpPr>
          <p:spPr>
            <a:xfrm>
              <a:off x="4076198" y="4748242"/>
              <a:ext cx="865943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hu-HU" dirty="0"/>
                <a:t>k</a:t>
              </a:r>
              <a:r>
                <a:rPr lang="hu-HU" dirty="0" smtClean="0"/>
                <a:t>id </a:t>
              </a:r>
              <a:r>
                <a:rPr lang="hu-HU" dirty="0">
                  <a:solidFill>
                    <a:srgbClr val="FFFF00"/>
                  </a:solidFill>
                </a:rPr>
                <a:t>1</a:t>
              </a:r>
              <a:r>
                <a:rPr lang="hu-HU" dirty="0" smtClean="0">
                  <a:solidFill>
                    <a:srgbClr val="FFFF00"/>
                  </a:solidFill>
                </a:rPr>
                <a:t>; 2</a:t>
              </a:r>
              <a:endParaRPr lang="hu-HU" dirty="0"/>
            </a:p>
          </p:txBody>
        </p:sp>
        <p:sp>
          <p:nvSpPr>
            <p:cNvPr id="11" name="Szövegdoboz 10"/>
            <p:cNvSpPr txBox="1"/>
            <p:nvPr/>
          </p:nvSpPr>
          <p:spPr>
            <a:xfrm>
              <a:off x="4076198" y="5107410"/>
              <a:ext cx="18319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 smtClean="0"/>
                <a:t>k_nev</a:t>
              </a:r>
              <a:r>
                <a:rPr lang="hu-HU" dirty="0" smtClean="0"/>
                <a:t> </a:t>
              </a:r>
              <a:r>
                <a:rPr lang="hu-HU" dirty="0" smtClean="0">
                  <a:solidFill>
                    <a:srgbClr val="FFFF00"/>
                  </a:solidFill>
                </a:rPr>
                <a:t>Súlyos; OK</a:t>
              </a:r>
              <a:r>
                <a:rPr lang="hu-HU" dirty="0" smtClean="0"/>
                <a:t> </a:t>
              </a:r>
              <a:endParaRPr lang="hu-HU" dirty="0"/>
            </a:p>
          </p:txBody>
        </p:sp>
      </p:grpSp>
      <p:cxnSp>
        <p:nvCxnSpPr>
          <p:cNvPr id="32" name="Szögletes összekötő 31"/>
          <p:cNvCxnSpPr>
            <a:stCxn id="22" idx="3"/>
            <a:endCxn id="10" idx="1"/>
          </p:cNvCxnSpPr>
          <p:nvPr/>
        </p:nvCxnSpPr>
        <p:spPr>
          <a:xfrm>
            <a:off x="5707220" y="2202199"/>
            <a:ext cx="3824357" cy="118669"/>
          </a:xfrm>
          <a:prstGeom prst="bentConnector3">
            <a:avLst>
              <a:gd name="adj1" fmla="val 5000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Egyenes összekötő 41"/>
          <p:cNvCxnSpPr>
            <a:stCxn id="5" idx="3"/>
            <a:endCxn id="9" idx="1"/>
          </p:cNvCxnSpPr>
          <p:nvPr/>
        </p:nvCxnSpPr>
        <p:spPr>
          <a:xfrm>
            <a:off x="932066" y="2017660"/>
            <a:ext cx="145821" cy="13485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8" name="Csoportba foglalás 47"/>
          <p:cNvGrpSpPr/>
          <p:nvPr/>
        </p:nvGrpSpPr>
        <p:grpSpPr>
          <a:xfrm>
            <a:off x="955081" y="2876510"/>
            <a:ext cx="2671510" cy="2544911"/>
            <a:chOff x="1036014" y="2555107"/>
            <a:chExt cx="2671510" cy="2544911"/>
          </a:xfrm>
        </p:grpSpPr>
        <p:grpSp>
          <p:nvGrpSpPr>
            <p:cNvPr id="40" name="Csoportba foglalás 39"/>
            <p:cNvGrpSpPr/>
            <p:nvPr/>
          </p:nvGrpSpPr>
          <p:grpSpPr>
            <a:xfrm>
              <a:off x="1036014" y="2581262"/>
              <a:ext cx="2671510" cy="2518756"/>
              <a:chOff x="1578604" y="1680565"/>
              <a:chExt cx="2671510" cy="2518756"/>
            </a:xfrm>
          </p:grpSpPr>
          <p:sp>
            <p:nvSpPr>
              <p:cNvPr id="6" name="Téglalap 5"/>
              <p:cNvSpPr/>
              <p:nvPr/>
            </p:nvSpPr>
            <p:spPr>
              <a:xfrm>
                <a:off x="1578604" y="1680565"/>
                <a:ext cx="2661643" cy="25187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8" name="Szövegdoboz 7"/>
              <p:cNvSpPr txBox="1"/>
              <p:nvPr/>
            </p:nvSpPr>
            <p:spPr>
              <a:xfrm>
                <a:off x="1662546" y="2253090"/>
                <a:ext cx="25875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dirty="0" err="1" smtClean="0"/>
                  <a:t>Full_Name</a:t>
                </a:r>
                <a:r>
                  <a:rPr lang="hu-HU" dirty="0" smtClean="0"/>
                  <a:t> </a:t>
                </a:r>
                <a:r>
                  <a:rPr lang="hu-HU" dirty="0" smtClean="0">
                    <a:solidFill>
                      <a:srgbClr val="FFFF00"/>
                    </a:solidFill>
                  </a:rPr>
                  <a:t>Somogyi Tibor</a:t>
                </a:r>
                <a:endParaRPr lang="hu-HU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9" name="Szövegdoboz 8"/>
              <p:cNvSpPr txBox="1"/>
              <p:nvPr/>
            </p:nvSpPr>
            <p:spPr>
              <a:xfrm>
                <a:off x="1701410" y="1959420"/>
                <a:ext cx="1441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dirty="0" err="1" smtClean="0"/>
                  <a:t>id</a:t>
                </a:r>
                <a:r>
                  <a:rPr lang="hu-HU" dirty="0" smtClean="0"/>
                  <a:t> </a:t>
                </a:r>
                <a:r>
                  <a:rPr lang="hu-HU" dirty="0" err="1" smtClean="0">
                    <a:solidFill>
                      <a:srgbClr val="FFFF00"/>
                    </a:solidFill>
                  </a:rPr>
                  <a:t>somogyi_t</a:t>
                </a:r>
                <a:endParaRPr lang="hu-HU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17" name="Szövegdoboz 16"/>
              <p:cNvSpPr txBox="1"/>
              <p:nvPr/>
            </p:nvSpPr>
            <p:spPr>
              <a:xfrm>
                <a:off x="1687079" y="2621981"/>
                <a:ext cx="12945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dirty="0" smtClean="0"/>
                  <a:t>Jogok  </a:t>
                </a:r>
                <a:r>
                  <a:rPr lang="hu-HU" dirty="0" smtClean="0">
                    <a:solidFill>
                      <a:srgbClr val="FFFF00"/>
                    </a:solidFill>
                  </a:rPr>
                  <a:t>(V;O)</a:t>
                </a:r>
                <a:endParaRPr lang="hu-HU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18" name="Szövegdoboz 17"/>
              <p:cNvSpPr txBox="1"/>
              <p:nvPr/>
            </p:nvSpPr>
            <p:spPr>
              <a:xfrm>
                <a:off x="1677212" y="2979480"/>
                <a:ext cx="10908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dirty="0" smtClean="0"/>
                  <a:t>Aktív </a:t>
                </a:r>
                <a:r>
                  <a:rPr lang="hu-HU" dirty="0" smtClean="0">
                    <a:solidFill>
                      <a:srgbClr val="FFFF00"/>
                    </a:solidFill>
                  </a:rPr>
                  <a:t>✔⬜</a:t>
                </a:r>
                <a:endParaRPr lang="hu-HU" dirty="0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47" name="Szövegdoboz 46"/>
            <p:cNvSpPr txBox="1"/>
            <p:nvPr/>
          </p:nvSpPr>
          <p:spPr>
            <a:xfrm>
              <a:off x="1884000" y="2555107"/>
              <a:ext cx="777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smtClean="0">
                  <a:solidFill>
                    <a:schemeClr val="bg1"/>
                  </a:solidFill>
                </a:rPr>
                <a:t>USERS</a:t>
              </a:r>
              <a:endParaRPr lang="hu-HU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9" name="Szögletes összekötő 48"/>
          <p:cNvCxnSpPr>
            <a:stCxn id="25" idx="1"/>
            <a:endCxn id="9" idx="3"/>
          </p:cNvCxnSpPr>
          <p:nvPr/>
        </p:nvCxnSpPr>
        <p:spPr>
          <a:xfrm rot="10800000" flipV="1">
            <a:off x="2519308" y="3172598"/>
            <a:ext cx="2053925" cy="193587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88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56210" y="280570"/>
            <a:ext cx="10515600" cy="1325563"/>
          </a:xfrm>
        </p:spPr>
        <p:txBody>
          <a:bodyPr/>
          <a:lstStyle/>
          <a:p>
            <a:pPr algn="ctr"/>
            <a:r>
              <a:rPr lang="hu-HU" dirty="0" smtClean="0"/>
              <a:t>1.Ablak</a:t>
            </a:r>
            <a:endParaRPr lang="hu-HU" dirty="0"/>
          </a:p>
        </p:txBody>
      </p:sp>
      <p:sp>
        <p:nvSpPr>
          <p:cNvPr id="4" name="Téglalap 3"/>
          <p:cNvSpPr/>
          <p:nvPr/>
        </p:nvSpPr>
        <p:spPr>
          <a:xfrm>
            <a:off x="216131" y="1438102"/>
            <a:ext cx="11795759" cy="54198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/>
          <p:cNvSpPr txBox="1"/>
          <p:nvPr/>
        </p:nvSpPr>
        <p:spPr>
          <a:xfrm>
            <a:off x="4796510" y="2297643"/>
            <a:ext cx="2449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dirty="0" smtClean="0">
                <a:solidFill>
                  <a:schemeClr val="bg1"/>
                </a:solidFill>
              </a:rPr>
              <a:t>Bejelentkezés</a:t>
            </a:r>
            <a:endParaRPr lang="hu-HU" sz="3200" dirty="0">
              <a:solidFill>
                <a:schemeClr val="bg1"/>
              </a:solidFill>
            </a:endParaRPr>
          </a:p>
        </p:txBody>
      </p:sp>
      <p:sp>
        <p:nvSpPr>
          <p:cNvPr id="6" name="Szövegdoboz 5"/>
          <p:cNvSpPr txBox="1"/>
          <p:nvPr/>
        </p:nvSpPr>
        <p:spPr>
          <a:xfrm>
            <a:off x="4238794" y="3653836"/>
            <a:ext cx="1782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Felhasználó név: </a:t>
            </a:r>
          </a:p>
          <a:p>
            <a:r>
              <a:rPr lang="hu-HU" dirty="0" smtClean="0"/>
              <a:t>	Jelszó: </a:t>
            </a:r>
            <a:endParaRPr lang="hu-HU" dirty="0"/>
          </a:p>
        </p:txBody>
      </p:sp>
      <p:sp>
        <p:nvSpPr>
          <p:cNvPr id="7" name="Téglalap 6">
            <a:hlinkClick r:id="rId2" action="ppaction://hlinksldjump"/>
          </p:cNvPr>
          <p:cNvSpPr/>
          <p:nvPr/>
        </p:nvSpPr>
        <p:spPr>
          <a:xfrm>
            <a:off x="6021462" y="3711294"/>
            <a:ext cx="1471353" cy="247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hlinkClick r:id="rId3" action="ppaction://hlinksldjump"/>
          </p:cNvPr>
          <p:cNvSpPr/>
          <p:nvPr/>
        </p:nvSpPr>
        <p:spPr>
          <a:xfrm>
            <a:off x="6021461" y="4052774"/>
            <a:ext cx="1471353" cy="247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900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églalap 24"/>
          <p:cNvSpPr/>
          <p:nvPr/>
        </p:nvSpPr>
        <p:spPr>
          <a:xfrm>
            <a:off x="755073" y="1252670"/>
            <a:ext cx="10899371" cy="5605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smtClean="0"/>
              <a:t>Operátor</a:t>
            </a:r>
            <a:endParaRPr lang="hu-HU" dirty="0"/>
          </a:p>
        </p:txBody>
      </p:sp>
      <p:sp>
        <p:nvSpPr>
          <p:cNvPr id="5" name="Téglalap 4"/>
          <p:cNvSpPr/>
          <p:nvPr/>
        </p:nvSpPr>
        <p:spPr>
          <a:xfrm>
            <a:off x="755073" y="1562793"/>
            <a:ext cx="10899371" cy="52952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6" name="Szövegdoboz 5"/>
          <p:cNvSpPr txBox="1"/>
          <p:nvPr/>
        </p:nvSpPr>
        <p:spPr>
          <a:xfrm>
            <a:off x="2040727" y="1803226"/>
            <a:ext cx="1072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Kategória</a:t>
            </a:r>
            <a:endParaRPr lang="hu-HU" dirty="0"/>
          </a:p>
        </p:txBody>
      </p:sp>
      <p:sp>
        <p:nvSpPr>
          <p:cNvPr id="7" name="Téglalap 6"/>
          <p:cNvSpPr/>
          <p:nvPr/>
        </p:nvSpPr>
        <p:spPr>
          <a:xfrm>
            <a:off x="2040727" y="2172558"/>
            <a:ext cx="1163781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Háromszög 7"/>
          <p:cNvSpPr/>
          <p:nvPr/>
        </p:nvSpPr>
        <p:spPr>
          <a:xfrm rot="10800000">
            <a:off x="2065666" y="2285095"/>
            <a:ext cx="103956" cy="1006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4050967" y="1803226"/>
            <a:ext cx="504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-</a:t>
            </a:r>
            <a:r>
              <a:rPr lang="hu-HU" dirty="0" err="1" smtClean="0"/>
              <a:t>tól</a:t>
            </a:r>
            <a:endParaRPr lang="hu-HU" dirty="0"/>
          </a:p>
        </p:txBody>
      </p:sp>
      <p:sp>
        <p:nvSpPr>
          <p:cNvPr id="10" name="Téglalap 9"/>
          <p:cNvSpPr/>
          <p:nvPr/>
        </p:nvSpPr>
        <p:spPr>
          <a:xfrm>
            <a:off x="3721390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2022.01.10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doboz 10"/>
          <p:cNvSpPr txBox="1"/>
          <p:nvPr/>
        </p:nvSpPr>
        <p:spPr>
          <a:xfrm>
            <a:off x="5899233" y="1803226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-</a:t>
            </a:r>
            <a:r>
              <a:rPr lang="hu-HU" dirty="0" err="1" smtClean="0"/>
              <a:t>ig</a:t>
            </a:r>
            <a:endParaRPr lang="hu-HU" dirty="0"/>
          </a:p>
        </p:txBody>
      </p:sp>
      <p:sp>
        <p:nvSpPr>
          <p:cNvPr id="12" name="Téglalap 11"/>
          <p:cNvSpPr/>
          <p:nvPr/>
        </p:nvSpPr>
        <p:spPr>
          <a:xfrm>
            <a:off x="5569656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2022.01.10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3" name="Szövegdoboz 12"/>
          <p:cNvSpPr txBox="1"/>
          <p:nvPr/>
        </p:nvSpPr>
        <p:spPr>
          <a:xfrm>
            <a:off x="7524592" y="1803226"/>
            <a:ext cx="95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Kulcsszó</a:t>
            </a:r>
            <a:endParaRPr lang="hu-HU" dirty="0"/>
          </a:p>
        </p:txBody>
      </p:sp>
      <p:sp>
        <p:nvSpPr>
          <p:cNvPr id="14" name="Téglalap 13"/>
          <p:cNvSpPr/>
          <p:nvPr/>
        </p:nvSpPr>
        <p:spPr>
          <a:xfrm>
            <a:off x="7382239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’’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5" name="Szövegdoboz 14"/>
          <p:cNvSpPr txBox="1"/>
          <p:nvPr/>
        </p:nvSpPr>
        <p:spPr>
          <a:xfrm>
            <a:off x="9501480" y="1803226"/>
            <a:ext cx="55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Név</a:t>
            </a:r>
            <a:endParaRPr lang="hu-HU" dirty="0"/>
          </a:p>
        </p:txBody>
      </p:sp>
      <p:sp>
        <p:nvSpPr>
          <p:cNvPr id="16" name="Téglalap 15"/>
          <p:cNvSpPr/>
          <p:nvPr/>
        </p:nvSpPr>
        <p:spPr>
          <a:xfrm>
            <a:off x="9155513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’’</a:t>
            </a:r>
            <a:endParaRPr lang="hu-HU" dirty="0">
              <a:solidFill>
                <a:schemeClr val="tx1"/>
              </a:solidFill>
            </a:endParaRPr>
          </a:p>
        </p:txBody>
      </p:sp>
      <p:graphicFrame>
        <p:nvGraphicFramePr>
          <p:cNvPr id="20" name="Tábláza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104894"/>
              </p:ext>
            </p:extLst>
          </p:nvPr>
        </p:nvGraphicFramePr>
        <p:xfrm>
          <a:off x="2358835" y="2656210"/>
          <a:ext cx="7665777" cy="420179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95111">
                  <a:extLst>
                    <a:ext uri="{9D8B030D-6E8A-4147-A177-3AD203B41FA5}">
                      <a16:colId xmlns:a16="http://schemas.microsoft.com/office/drawing/2014/main" val="2010969378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1162817573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344912628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4081424127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824462106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2076310692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476648355"/>
                    </a:ext>
                  </a:extLst>
                </a:gridCol>
              </a:tblGrid>
              <a:tr h="569086">
                <a:tc>
                  <a:txBody>
                    <a:bodyPr/>
                    <a:lstStyle/>
                    <a:p>
                      <a:endParaRPr lang="hu-HU" sz="1100" b="0" i="1" u="sng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100" b="1" dirty="0" err="1" smtClean="0"/>
                        <a:t>id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100" b="1" dirty="0" smtClean="0"/>
                        <a:t>kategória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Leírás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Dátum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Író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Rögzítés</a:t>
                      </a:r>
                      <a:endParaRPr lang="hu-HU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92165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1" u="sng" dirty="0" smtClean="0">
                          <a:solidFill>
                            <a:srgbClr val="00B0F0"/>
                          </a:solidFill>
                        </a:rPr>
                        <a:t>Szerkesztés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0" u="none" baseline="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(Csak ha saját)</a:t>
                      </a:r>
                      <a:endParaRPr lang="hu-HU" sz="1100" b="0" i="0" u="none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  <a:p>
                      <a:r>
                        <a:rPr lang="hu-HU" sz="1100" dirty="0" smtClean="0"/>
                        <a:t>Előzmények</a:t>
                      </a:r>
                      <a:r>
                        <a:rPr lang="hu-HU" sz="1100" baseline="0" dirty="0" smtClean="0"/>
                        <a:t>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u="sng" dirty="0" smtClean="0">
                          <a:solidFill>
                            <a:srgbClr val="00B0F0"/>
                          </a:solidFill>
                        </a:rPr>
                        <a:t>209; 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211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Súlyos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A gép meghibásodott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2022.01.09.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Somogyi</a:t>
                      </a:r>
                      <a:r>
                        <a:rPr lang="hu-HU" sz="1100" baseline="0" dirty="0" smtClean="0"/>
                        <a:t> Tibor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</a:p>
                    <a:p>
                      <a:r>
                        <a:rPr lang="hu-HU" sz="110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(</a:t>
                      </a:r>
                      <a:r>
                        <a:rPr lang="hu-HU" sz="1100" dirty="0" err="1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auto</a:t>
                      </a:r>
                      <a:r>
                        <a:rPr lang="hu-HU" sz="110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)</a:t>
                      </a:r>
                      <a:endParaRPr lang="hu-HU" sz="11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309660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210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Jó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Felülvizsgálás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Kiss</a:t>
                      </a:r>
                      <a:r>
                        <a:rPr lang="hu-HU" sz="1100" baseline="0" dirty="0" smtClean="0"/>
                        <a:t> Pista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860350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208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OK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Minden</a:t>
                      </a:r>
                      <a:r>
                        <a:rPr lang="hu-HU" sz="1100" baseline="0" dirty="0" smtClean="0"/>
                        <a:t> ok 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Nagy</a:t>
                      </a:r>
                      <a:r>
                        <a:rPr lang="hu-HU" sz="1100" baseline="0" dirty="0" smtClean="0"/>
                        <a:t> Lajos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2022.01.10.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720293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1" u="sng" dirty="0" smtClean="0">
                          <a:solidFill>
                            <a:srgbClr val="00B0F0"/>
                          </a:solidFill>
                        </a:rPr>
                        <a:t>Szerkesztés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0" u="none" baseline="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(Csak ha saját)</a:t>
                      </a:r>
                      <a:endParaRPr lang="hu-HU" sz="1100" b="0" i="0" u="none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  <a:p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207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Súlyos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Probléma a szerverrel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2022.01.06.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Somogyi Tibor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97754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471985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770222"/>
                  </a:ext>
                </a:extLst>
              </a:tr>
            </a:tbl>
          </a:graphicData>
        </a:graphic>
      </p:graphicFrame>
      <p:cxnSp>
        <p:nvCxnSpPr>
          <p:cNvPr id="31" name="Egyenes összekötő nyíllal 30"/>
          <p:cNvCxnSpPr/>
          <p:nvPr/>
        </p:nvCxnSpPr>
        <p:spPr>
          <a:xfrm>
            <a:off x="3721390" y="790575"/>
            <a:ext cx="2177843" cy="119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nyíllal 32"/>
          <p:cNvCxnSpPr/>
          <p:nvPr/>
        </p:nvCxnSpPr>
        <p:spPr>
          <a:xfrm>
            <a:off x="3721390" y="809073"/>
            <a:ext cx="266722" cy="1263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zövegdoboz 33"/>
          <p:cNvSpPr txBox="1"/>
          <p:nvPr/>
        </p:nvSpPr>
        <p:spPr>
          <a:xfrm>
            <a:off x="3032271" y="485625"/>
            <a:ext cx="983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Autó ma</a:t>
            </a:r>
            <a:endParaRPr lang="hu-HU" dirty="0"/>
          </a:p>
        </p:txBody>
      </p:sp>
      <p:sp>
        <p:nvSpPr>
          <p:cNvPr id="35" name="Szövegdoboz 34"/>
          <p:cNvSpPr txBox="1"/>
          <p:nvPr/>
        </p:nvSpPr>
        <p:spPr>
          <a:xfrm>
            <a:off x="10260473" y="1559036"/>
            <a:ext cx="14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 smtClean="0">
                <a:solidFill>
                  <a:schemeClr val="accent1">
                    <a:lumMod val="75000"/>
                  </a:schemeClr>
                </a:solidFill>
                <a:hlinkClick r:id="rId2" action="ppaction://hlinksldjump"/>
              </a:rPr>
              <a:t>Kijelentkezés</a:t>
            </a:r>
            <a:endParaRPr lang="hu-HU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Lekerekített téglalap 36">
            <a:hlinkClick r:id="rId3" action="ppaction://hlinksldjump"/>
          </p:cNvPr>
          <p:cNvSpPr/>
          <p:nvPr/>
        </p:nvSpPr>
        <p:spPr>
          <a:xfrm>
            <a:off x="1734503" y="1246302"/>
            <a:ext cx="1642327" cy="32165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+</a:t>
            </a:r>
          </a:p>
        </p:txBody>
      </p:sp>
      <p:sp>
        <p:nvSpPr>
          <p:cNvPr id="39" name="Lekerekített téglalap 38"/>
          <p:cNvSpPr/>
          <p:nvPr/>
        </p:nvSpPr>
        <p:spPr>
          <a:xfrm>
            <a:off x="737814" y="1250295"/>
            <a:ext cx="1310592" cy="334744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100" dirty="0"/>
              <a:t>Somogyi Tibor (O)</a:t>
            </a:r>
          </a:p>
        </p:txBody>
      </p:sp>
      <p:sp>
        <p:nvSpPr>
          <p:cNvPr id="40" name="Téglalap 39"/>
          <p:cNvSpPr/>
          <p:nvPr/>
        </p:nvSpPr>
        <p:spPr>
          <a:xfrm>
            <a:off x="737814" y="1243927"/>
            <a:ext cx="100386" cy="3188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032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églalap 25"/>
          <p:cNvSpPr/>
          <p:nvPr/>
        </p:nvSpPr>
        <p:spPr>
          <a:xfrm>
            <a:off x="755073" y="1252670"/>
            <a:ext cx="10899371" cy="5605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Cím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hu-HU" dirty="0" smtClean="0"/>
              <a:t>Operátor</a:t>
            </a:r>
            <a:endParaRPr lang="hu-HU" dirty="0"/>
          </a:p>
        </p:txBody>
      </p:sp>
      <p:sp>
        <p:nvSpPr>
          <p:cNvPr id="28" name="Téglalap 27"/>
          <p:cNvSpPr/>
          <p:nvPr/>
        </p:nvSpPr>
        <p:spPr>
          <a:xfrm>
            <a:off x="755073" y="1562793"/>
            <a:ext cx="10899371" cy="52952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9" name="Szövegdoboz 28"/>
          <p:cNvSpPr txBox="1"/>
          <p:nvPr/>
        </p:nvSpPr>
        <p:spPr>
          <a:xfrm>
            <a:off x="2040727" y="1803226"/>
            <a:ext cx="1072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Kategória</a:t>
            </a:r>
            <a:endParaRPr lang="hu-HU" dirty="0"/>
          </a:p>
        </p:txBody>
      </p:sp>
      <p:sp>
        <p:nvSpPr>
          <p:cNvPr id="30" name="Téglalap 29"/>
          <p:cNvSpPr/>
          <p:nvPr/>
        </p:nvSpPr>
        <p:spPr>
          <a:xfrm>
            <a:off x="2040727" y="2172558"/>
            <a:ext cx="1163781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Háromszög 30"/>
          <p:cNvSpPr/>
          <p:nvPr/>
        </p:nvSpPr>
        <p:spPr>
          <a:xfrm rot="10800000">
            <a:off x="2065666" y="2285095"/>
            <a:ext cx="103956" cy="1006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Szövegdoboz 31"/>
          <p:cNvSpPr txBox="1"/>
          <p:nvPr/>
        </p:nvSpPr>
        <p:spPr>
          <a:xfrm>
            <a:off x="4050967" y="1803226"/>
            <a:ext cx="504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-</a:t>
            </a:r>
            <a:r>
              <a:rPr lang="hu-HU" dirty="0" err="1" smtClean="0"/>
              <a:t>tól</a:t>
            </a:r>
            <a:endParaRPr lang="hu-HU" dirty="0"/>
          </a:p>
        </p:txBody>
      </p:sp>
      <p:sp>
        <p:nvSpPr>
          <p:cNvPr id="33" name="Téglalap 32"/>
          <p:cNvSpPr/>
          <p:nvPr/>
        </p:nvSpPr>
        <p:spPr>
          <a:xfrm>
            <a:off x="3721390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2022.01.10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34" name="Szövegdoboz 33"/>
          <p:cNvSpPr txBox="1"/>
          <p:nvPr/>
        </p:nvSpPr>
        <p:spPr>
          <a:xfrm>
            <a:off x="5899233" y="1803226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-</a:t>
            </a:r>
            <a:r>
              <a:rPr lang="hu-HU" dirty="0" err="1" smtClean="0"/>
              <a:t>ig</a:t>
            </a:r>
            <a:endParaRPr lang="hu-HU" dirty="0"/>
          </a:p>
        </p:txBody>
      </p:sp>
      <p:sp>
        <p:nvSpPr>
          <p:cNvPr id="35" name="Téglalap 34"/>
          <p:cNvSpPr/>
          <p:nvPr/>
        </p:nvSpPr>
        <p:spPr>
          <a:xfrm>
            <a:off x="5569656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2022.01.10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36" name="Szövegdoboz 35"/>
          <p:cNvSpPr txBox="1"/>
          <p:nvPr/>
        </p:nvSpPr>
        <p:spPr>
          <a:xfrm>
            <a:off x="7524592" y="1803226"/>
            <a:ext cx="95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Kulcsszó</a:t>
            </a:r>
            <a:endParaRPr lang="hu-HU" dirty="0"/>
          </a:p>
        </p:txBody>
      </p:sp>
      <p:sp>
        <p:nvSpPr>
          <p:cNvPr id="37" name="Téglalap 36"/>
          <p:cNvSpPr/>
          <p:nvPr/>
        </p:nvSpPr>
        <p:spPr>
          <a:xfrm>
            <a:off x="7382239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’’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38" name="Szövegdoboz 37"/>
          <p:cNvSpPr txBox="1"/>
          <p:nvPr/>
        </p:nvSpPr>
        <p:spPr>
          <a:xfrm>
            <a:off x="9501480" y="1803226"/>
            <a:ext cx="55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Név</a:t>
            </a:r>
            <a:endParaRPr lang="hu-HU" dirty="0"/>
          </a:p>
        </p:txBody>
      </p:sp>
      <p:sp>
        <p:nvSpPr>
          <p:cNvPr id="39" name="Téglalap 38"/>
          <p:cNvSpPr/>
          <p:nvPr/>
        </p:nvSpPr>
        <p:spPr>
          <a:xfrm>
            <a:off x="9155513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’’</a:t>
            </a:r>
            <a:endParaRPr lang="hu-HU" dirty="0">
              <a:solidFill>
                <a:schemeClr val="tx1"/>
              </a:solidFill>
            </a:endParaRPr>
          </a:p>
        </p:txBody>
      </p:sp>
      <p:cxnSp>
        <p:nvCxnSpPr>
          <p:cNvPr id="41" name="Egyenes összekötő nyíllal 40"/>
          <p:cNvCxnSpPr/>
          <p:nvPr/>
        </p:nvCxnSpPr>
        <p:spPr>
          <a:xfrm>
            <a:off x="3721390" y="790575"/>
            <a:ext cx="2177843" cy="119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gyenes összekötő nyíllal 41"/>
          <p:cNvCxnSpPr/>
          <p:nvPr/>
        </p:nvCxnSpPr>
        <p:spPr>
          <a:xfrm>
            <a:off x="3721390" y="809073"/>
            <a:ext cx="266722" cy="1263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zövegdoboz 42"/>
          <p:cNvSpPr txBox="1"/>
          <p:nvPr/>
        </p:nvSpPr>
        <p:spPr>
          <a:xfrm>
            <a:off x="3032271" y="485625"/>
            <a:ext cx="983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Autó ma</a:t>
            </a:r>
            <a:endParaRPr lang="hu-HU" dirty="0"/>
          </a:p>
        </p:txBody>
      </p:sp>
      <p:sp>
        <p:nvSpPr>
          <p:cNvPr id="44" name="Szövegdoboz 43"/>
          <p:cNvSpPr txBox="1"/>
          <p:nvPr/>
        </p:nvSpPr>
        <p:spPr>
          <a:xfrm>
            <a:off x="10260473" y="1559036"/>
            <a:ext cx="14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 smtClean="0">
                <a:solidFill>
                  <a:schemeClr val="accent1">
                    <a:lumMod val="75000"/>
                  </a:schemeClr>
                </a:solidFill>
                <a:hlinkClick r:id="rId2" action="ppaction://hlinksldjump"/>
              </a:rPr>
              <a:t>Kijelentkezés</a:t>
            </a:r>
            <a:endParaRPr lang="hu-HU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5" name="Lekerekített téglalap 44">
            <a:hlinkClick r:id="rId3" action="ppaction://hlinksldjump"/>
          </p:cNvPr>
          <p:cNvSpPr/>
          <p:nvPr/>
        </p:nvSpPr>
        <p:spPr>
          <a:xfrm>
            <a:off x="1734503" y="1246302"/>
            <a:ext cx="1642327" cy="32165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+</a:t>
            </a:r>
          </a:p>
        </p:txBody>
      </p:sp>
      <p:sp>
        <p:nvSpPr>
          <p:cNvPr id="46" name="Lekerekített téglalap 45"/>
          <p:cNvSpPr/>
          <p:nvPr/>
        </p:nvSpPr>
        <p:spPr>
          <a:xfrm>
            <a:off x="737814" y="1250295"/>
            <a:ext cx="1310592" cy="334744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100" dirty="0"/>
              <a:t>Somogyi Tibor (O)</a:t>
            </a:r>
          </a:p>
        </p:txBody>
      </p:sp>
      <p:sp>
        <p:nvSpPr>
          <p:cNvPr id="47" name="Téglalap 46"/>
          <p:cNvSpPr/>
          <p:nvPr/>
        </p:nvSpPr>
        <p:spPr>
          <a:xfrm>
            <a:off x="737814" y="1243927"/>
            <a:ext cx="100386" cy="3188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52" name="Táblázat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987973"/>
              </p:ext>
            </p:extLst>
          </p:nvPr>
        </p:nvGraphicFramePr>
        <p:xfrm>
          <a:off x="2594696" y="2692725"/>
          <a:ext cx="7665777" cy="417164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93265">
                  <a:extLst>
                    <a:ext uri="{9D8B030D-6E8A-4147-A177-3AD203B41FA5}">
                      <a16:colId xmlns:a16="http://schemas.microsoft.com/office/drawing/2014/main" val="2010969378"/>
                    </a:ext>
                  </a:extLst>
                </a:gridCol>
                <a:gridCol w="1096957">
                  <a:extLst>
                    <a:ext uri="{9D8B030D-6E8A-4147-A177-3AD203B41FA5}">
                      <a16:colId xmlns:a16="http://schemas.microsoft.com/office/drawing/2014/main" val="1162817573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344912628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4081424127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824462106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2076310692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476648355"/>
                    </a:ext>
                  </a:extLst>
                </a:gridCol>
              </a:tblGrid>
              <a:tr h="564213">
                <a:tc>
                  <a:txBody>
                    <a:bodyPr/>
                    <a:lstStyle/>
                    <a:p>
                      <a:endParaRPr lang="hu-HU" sz="1100" b="0" i="1" u="sng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100" b="1" dirty="0" err="1" smtClean="0"/>
                        <a:t>id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100" b="1" dirty="0" smtClean="0"/>
                        <a:t>kategória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Leírás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Dátum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Író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Rögzítés</a:t>
                      </a:r>
                      <a:endParaRPr lang="hu-HU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92165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1" u="sng" dirty="0" smtClean="0">
                          <a:solidFill>
                            <a:srgbClr val="00B0F0"/>
                          </a:solidFill>
                        </a:rPr>
                        <a:t>Szerkesztés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0" u="none" baseline="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(Csak ha saját)</a:t>
                      </a:r>
                      <a:endParaRPr lang="hu-HU" sz="1100" b="0" i="1" u="sng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  <a:p>
                      <a:r>
                        <a:rPr lang="hu-HU" sz="1100" dirty="0" smtClean="0"/>
                        <a:t>Előzmények</a:t>
                      </a:r>
                      <a:r>
                        <a:rPr lang="hu-HU" sz="1100" baseline="0" dirty="0" smtClean="0"/>
                        <a:t>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u="none" dirty="0" smtClean="0">
                          <a:solidFill>
                            <a:schemeClr val="tx1"/>
                          </a:solidFill>
                        </a:rPr>
                        <a:t>209; 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211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Súlyos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A gép meghibásodott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2022.01.09.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Somogyi</a:t>
                      </a:r>
                      <a:r>
                        <a:rPr lang="hu-HU" sz="1100" baseline="0" dirty="0" smtClean="0"/>
                        <a:t> Tibor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</a:p>
                    <a:p>
                      <a:r>
                        <a:rPr lang="hu-HU" sz="110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(</a:t>
                      </a:r>
                      <a:r>
                        <a:rPr lang="hu-HU" sz="1100" dirty="0" err="1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auto</a:t>
                      </a:r>
                      <a:r>
                        <a:rPr lang="hu-HU" sz="110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)</a:t>
                      </a:r>
                      <a:endParaRPr lang="hu-HU" sz="11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309660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210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Jó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Felülvizsgálás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Kiss</a:t>
                      </a:r>
                      <a:r>
                        <a:rPr lang="hu-HU" sz="1100" baseline="0" dirty="0" smtClean="0"/>
                        <a:t> Pista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860350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208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OK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Minden</a:t>
                      </a:r>
                      <a:r>
                        <a:rPr lang="hu-HU" sz="1100" baseline="0" dirty="0" smtClean="0"/>
                        <a:t> ok 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Nagy</a:t>
                      </a:r>
                      <a:r>
                        <a:rPr lang="hu-HU" sz="1100" baseline="0" dirty="0" smtClean="0"/>
                        <a:t> Lajos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2022.01.10.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720293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1" u="sng" dirty="0" smtClean="0">
                          <a:solidFill>
                            <a:srgbClr val="00B0F0"/>
                          </a:solidFill>
                        </a:rPr>
                        <a:t>Szerkesztés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0" u="none" baseline="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(Csak ha saját)</a:t>
                      </a:r>
                      <a:endParaRPr lang="hu-HU" sz="1100" b="0" i="0" u="none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207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Súlyos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Probléma a szerverrel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2022.01.06.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Somogyi Tibor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97754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471985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…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770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63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églalap 24"/>
          <p:cNvSpPr/>
          <p:nvPr/>
        </p:nvSpPr>
        <p:spPr>
          <a:xfrm>
            <a:off x="755073" y="1252670"/>
            <a:ext cx="10899371" cy="5605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55459" y="0"/>
            <a:ext cx="10515600" cy="1250295"/>
          </a:xfrm>
        </p:spPr>
        <p:txBody>
          <a:bodyPr/>
          <a:lstStyle/>
          <a:p>
            <a:pPr algn="ctr"/>
            <a:r>
              <a:rPr lang="hu-HU" dirty="0" smtClean="0"/>
              <a:t>Operátori felület felvivő</a:t>
            </a:r>
            <a:endParaRPr lang="hu-HU" dirty="0"/>
          </a:p>
        </p:txBody>
      </p:sp>
      <p:sp>
        <p:nvSpPr>
          <p:cNvPr id="5" name="Téglalap 4"/>
          <p:cNvSpPr/>
          <p:nvPr/>
        </p:nvSpPr>
        <p:spPr>
          <a:xfrm>
            <a:off x="755073" y="1562793"/>
            <a:ext cx="10899371" cy="5295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" name="Lekerekített téglalap 36"/>
          <p:cNvSpPr/>
          <p:nvPr/>
        </p:nvSpPr>
        <p:spPr>
          <a:xfrm>
            <a:off x="1734503" y="1246302"/>
            <a:ext cx="1642327" cy="32165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+</a:t>
            </a:r>
          </a:p>
        </p:txBody>
      </p:sp>
      <p:sp>
        <p:nvSpPr>
          <p:cNvPr id="39" name="Lekerekített téglalap 38">
            <a:hlinkClick r:id="rId2" action="ppaction://hlinksldjump"/>
          </p:cNvPr>
          <p:cNvSpPr/>
          <p:nvPr/>
        </p:nvSpPr>
        <p:spPr>
          <a:xfrm>
            <a:off x="737814" y="1250295"/>
            <a:ext cx="1310592" cy="334744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100" dirty="0"/>
              <a:t>Somogyi Tibor (O)</a:t>
            </a:r>
          </a:p>
        </p:txBody>
      </p:sp>
      <p:sp>
        <p:nvSpPr>
          <p:cNvPr id="40" name="Téglalap 39"/>
          <p:cNvSpPr/>
          <p:nvPr/>
        </p:nvSpPr>
        <p:spPr>
          <a:xfrm>
            <a:off x="737814" y="1243927"/>
            <a:ext cx="100386" cy="3188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 23"/>
          <p:cNvSpPr/>
          <p:nvPr/>
        </p:nvSpPr>
        <p:spPr>
          <a:xfrm>
            <a:off x="2040727" y="2172558"/>
            <a:ext cx="1163781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Háromszög 25"/>
          <p:cNvSpPr/>
          <p:nvPr/>
        </p:nvSpPr>
        <p:spPr>
          <a:xfrm rot="10800000">
            <a:off x="2065666" y="2285095"/>
            <a:ext cx="103956" cy="1006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/>
          <p:cNvSpPr txBox="1"/>
          <p:nvPr/>
        </p:nvSpPr>
        <p:spPr>
          <a:xfrm>
            <a:off x="2008217" y="1832831"/>
            <a:ext cx="1078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kategória</a:t>
            </a:r>
            <a:endParaRPr lang="hu-HU" dirty="0"/>
          </a:p>
        </p:txBody>
      </p:sp>
      <p:sp>
        <p:nvSpPr>
          <p:cNvPr id="4" name="Téglalap 3"/>
          <p:cNvSpPr/>
          <p:nvPr/>
        </p:nvSpPr>
        <p:spPr>
          <a:xfrm>
            <a:off x="2008217" y="2559266"/>
            <a:ext cx="73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t"/>
            <a:r>
              <a:rPr lang="hu-HU" b="1" dirty="0"/>
              <a:t>Leírás</a:t>
            </a:r>
            <a:endParaRPr lang="hu-HU" dirty="0"/>
          </a:p>
        </p:txBody>
      </p:sp>
      <p:sp>
        <p:nvSpPr>
          <p:cNvPr id="29" name="Téglalap 28"/>
          <p:cNvSpPr/>
          <p:nvPr/>
        </p:nvSpPr>
        <p:spPr>
          <a:xfrm>
            <a:off x="2040727" y="2957308"/>
            <a:ext cx="3245648" cy="219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/>
          <p:cNvSpPr/>
          <p:nvPr/>
        </p:nvSpPr>
        <p:spPr>
          <a:xfrm>
            <a:off x="2065516" y="5562047"/>
            <a:ext cx="1493260" cy="356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 18"/>
          <p:cNvSpPr/>
          <p:nvPr/>
        </p:nvSpPr>
        <p:spPr>
          <a:xfrm>
            <a:off x="1978776" y="5155508"/>
            <a:ext cx="833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t"/>
            <a:r>
              <a:rPr lang="hu-HU" b="1" dirty="0"/>
              <a:t>Dátum</a:t>
            </a:r>
            <a:endParaRPr lang="hu-HU" dirty="0"/>
          </a:p>
        </p:txBody>
      </p:sp>
      <p:sp>
        <p:nvSpPr>
          <p:cNvPr id="22" name="Lekerekített téglalap 21"/>
          <p:cNvSpPr/>
          <p:nvPr/>
        </p:nvSpPr>
        <p:spPr>
          <a:xfrm>
            <a:off x="2048406" y="6122152"/>
            <a:ext cx="1714500" cy="609600"/>
          </a:xfrm>
          <a:prstGeom prst="roundRect">
            <a:avLst>
              <a:gd name="adj" fmla="val 369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Mentés</a:t>
            </a:r>
          </a:p>
        </p:txBody>
      </p:sp>
    </p:spTree>
    <p:extLst>
      <p:ext uri="{BB962C8B-B14F-4D97-AF65-F5344CB8AC3E}">
        <p14:creationId xmlns:p14="http://schemas.microsoft.com/office/powerpoint/2010/main" val="18686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églalap 24"/>
          <p:cNvSpPr/>
          <p:nvPr/>
        </p:nvSpPr>
        <p:spPr>
          <a:xfrm>
            <a:off x="755073" y="1252670"/>
            <a:ext cx="10899371" cy="5605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231594"/>
            <a:ext cx="10515600" cy="1325563"/>
          </a:xfrm>
        </p:spPr>
        <p:txBody>
          <a:bodyPr/>
          <a:lstStyle/>
          <a:p>
            <a:pPr algn="ctr"/>
            <a:r>
              <a:rPr lang="hu-HU" dirty="0" smtClean="0"/>
              <a:t>Vezető</a:t>
            </a:r>
            <a:endParaRPr lang="hu-HU" dirty="0"/>
          </a:p>
        </p:txBody>
      </p:sp>
      <p:sp>
        <p:nvSpPr>
          <p:cNvPr id="5" name="Téglalap 4"/>
          <p:cNvSpPr/>
          <p:nvPr/>
        </p:nvSpPr>
        <p:spPr>
          <a:xfrm>
            <a:off x="755073" y="1562793"/>
            <a:ext cx="10899371" cy="52952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6" name="Szövegdoboz 5"/>
          <p:cNvSpPr txBox="1"/>
          <p:nvPr/>
        </p:nvSpPr>
        <p:spPr>
          <a:xfrm>
            <a:off x="2040727" y="1803226"/>
            <a:ext cx="1072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Kategória</a:t>
            </a:r>
            <a:endParaRPr lang="hu-HU" dirty="0"/>
          </a:p>
        </p:txBody>
      </p:sp>
      <p:sp>
        <p:nvSpPr>
          <p:cNvPr id="7" name="Téglalap 6"/>
          <p:cNvSpPr/>
          <p:nvPr/>
        </p:nvSpPr>
        <p:spPr>
          <a:xfrm>
            <a:off x="2040727" y="2172558"/>
            <a:ext cx="1163781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Háromszög 7"/>
          <p:cNvSpPr/>
          <p:nvPr/>
        </p:nvSpPr>
        <p:spPr>
          <a:xfrm rot="10800000">
            <a:off x="2065666" y="2285095"/>
            <a:ext cx="103956" cy="1006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4050967" y="1803226"/>
            <a:ext cx="504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-</a:t>
            </a:r>
            <a:r>
              <a:rPr lang="hu-HU" dirty="0" err="1" smtClean="0"/>
              <a:t>tól</a:t>
            </a:r>
            <a:endParaRPr lang="hu-HU" dirty="0"/>
          </a:p>
        </p:txBody>
      </p:sp>
      <p:sp>
        <p:nvSpPr>
          <p:cNvPr id="10" name="Téglalap 9"/>
          <p:cNvSpPr/>
          <p:nvPr/>
        </p:nvSpPr>
        <p:spPr>
          <a:xfrm>
            <a:off x="3721390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2022.01.10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doboz 10"/>
          <p:cNvSpPr txBox="1"/>
          <p:nvPr/>
        </p:nvSpPr>
        <p:spPr>
          <a:xfrm>
            <a:off x="5899233" y="1803226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-</a:t>
            </a:r>
            <a:r>
              <a:rPr lang="hu-HU" dirty="0" err="1" smtClean="0"/>
              <a:t>ig</a:t>
            </a:r>
            <a:endParaRPr lang="hu-HU" dirty="0"/>
          </a:p>
        </p:txBody>
      </p:sp>
      <p:sp>
        <p:nvSpPr>
          <p:cNvPr id="12" name="Téglalap 11"/>
          <p:cNvSpPr/>
          <p:nvPr/>
        </p:nvSpPr>
        <p:spPr>
          <a:xfrm>
            <a:off x="5569656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2022.01.10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3" name="Szövegdoboz 12"/>
          <p:cNvSpPr txBox="1"/>
          <p:nvPr/>
        </p:nvSpPr>
        <p:spPr>
          <a:xfrm>
            <a:off x="7524592" y="1803226"/>
            <a:ext cx="95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Kulcsszó</a:t>
            </a:r>
            <a:endParaRPr lang="hu-HU" dirty="0"/>
          </a:p>
        </p:txBody>
      </p:sp>
      <p:sp>
        <p:nvSpPr>
          <p:cNvPr id="14" name="Téglalap 13"/>
          <p:cNvSpPr/>
          <p:nvPr/>
        </p:nvSpPr>
        <p:spPr>
          <a:xfrm>
            <a:off x="7382239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’’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5" name="Szövegdoboz 14"/>
          <p:cNvSpPr txBox="1"/>
          <p:nvPr/>
        </p:nvSpPr>
        <p:spPr>
          <a:xfrm>
            <a:off x="9501480" y="1803226"/>
            <a:ext cx="55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Név</a:t>
            </a:r>
            <a:endParaRPr lang="hu-HU" dirty="0"/>
          </a:p>
        </p:txBody>
      </p:sp>
      <p:sp>
        <p:nvSpPr>
          <p:cNvPr id="16" name="Téglalap 15"/>
          <p:cNvSpPr/>
          <p:nvPr/>
        </p:nvSpPr>
        <p:spPr>
          <a:xfrm>
            <a:off x="9155513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’’</a:t>
            </a:r>
            <a:endParaRPr lang="hu-HU" dirty="0">
              <a:solidFill>
                <a:schemeClr val="tx1"/>
              </a:solidFill>
            </a:endParaRPr>
          </a:p>
        </p:txBody>
      </p:sp>
      <p:graphicFrame>
        <p:nvGraphicFramePr>
          <p:cNvPr id="20" name="Tábláza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732165"/>
              </p:ext>
            </p:extLst>
          </p:nvPr>
        </p:nvGraphicFramePr>
        <p:xfrm>
          <a:off x="2002360" y="2874397"/>
          <a:ext cx="7665777" cy="287070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93265">
                  <a:extLst>
                    <a:ext uri="{9D8B030D-6E8A-4147-A177-3AD203B41FA5}">
                      <a16:colId xmlns:a16="http://schemas.microsoft.com/office/drawing/2014/main" val="2010969378"/>
                    </a:ext>
                  </a:extLst>
                </a:gridCol>
                <a:gridCol w="1096957">
                  <a:extLst>
                    <a:ext uri="{9D8B030D-6E8A-4147-A177-3AD203B41FA5}">
                      <a16:colId xmlns:a16="http://schemas.microsoft.com/office/drawing/2014/main" val="1162817573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344912628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4081424127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824462106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2076310692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476648355"/>
                    </a:ext>
                  </a:extLst>
                </a:gridCol>
              </a:tblGrid>
              <a:tr h="569086">
                <a:tc>
                  <a:txBody>
                    <a:bodyPr/>
                    <a:lstStyle/>
                    <a:p>
                      <a:endParaRPr lang="hu-HU" sz="1100" b="0" i="1" u="sng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100" b="1" dirty="0" err="1" smtClean="0"/>
                        <a:t>id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100" b="1" dirty="0" smtClean="0"/>
                        <a:t>kategória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Leírás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Dátum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Író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Rögzítés</a:t>
                      </a:r>
                      <a:endParaRPr lang="hu-HU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92165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1" u="sng" dirty="0" smtClean="0">
                          <a:solidFill>
                            <a:srgbClr val="00B0F0"/>
                          </a:solidFill>
                        </a:rPr>
                        <a:t>Szerkesztés</a:t>
                      </a:r>
                      <a:endParaRPr lang="hu-HU" sz="1100" b="0" i="1" u="sng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  <a:p>
                      <a:r>
                        <a:rPr lang="hu-HU" sz="1100" dirty="0" smtClean="0"/>
                        <a:t>Előzmények</a:t>
                      </a:r>
                      <a:r>
                        <a:rPr lang="hu-HU" sz="1100" baseline="0" dirty="0" smtClean="0"/>
                        <a:t>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u="sng" dirty="0" smtClean="0">
                          <a:solidFill>
                            <a:srgbClr val="00B0F0"/>
                          </a:solidFill>
                          <a:hlinkClick r:id="rId2" action="ppaction://hlinksldjump"/>
                        </a:rPr>
                        <a:t>209; 206</a:t>
                      </a:r>
                      <a:endParaRPr lang="hu-HU" sz="1100" u="sng" dirty="0" smtClean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211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Súlyos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A gép meghibásodott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2022.01.09.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Somogyi</a:t>
                      </a:r>
                      <a:r>
                        <a:rPr lang="hu-HU" sz="1100" baseline="0" dirty="0" smtClean="0"/>
                        <a:t> Tibor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</a:p>
                    <a:p>
                      <a:r>
                        <a:rPr lang="hu-HU" sz="110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(</a:t>
                      </a:r>
                      <a:r>
                        <a:rPr lang="hu-HU" sz="1100" dirty="0" err="1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auto</a:t>
                      </a:r>
                      <a:r>
                        <a:rPr lang="hu-HU" sz="110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)</a:t>
                      </a:r>
                      <a:endParaRPr lang="hu-HU" sz="11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309660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1" u="sng" dirty="0" smtClean="0">
                          <a:solidFill>
                            <a:srgbClr val="00B0F0"/>
                          </a:solidFill>
                        </a:rPr>
                        <a:t>Szerkesztés</a:t>
                      </a:r>
                    </a:p>
                    <a:p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210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Jó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Felülvizsgálás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Kiss</a:t>
                      </a:r>
                      <a:r>
                        <a:rPr lang="hu-HU" sz="1100" baseline="0" dirty="0" smtClean="0"/>
                        <a:t> Pista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860350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1" u="sng" dirty="0" smtClean="0">
                          <a:solidFill>
                            <a:srgbClr val="00B0F0"/>
                          </a:solidFill>
                        </a:rPr>
                        <a:t>Szerkesztés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208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Jó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Minden</a:t>
                      </a:r>
                      <a:r>
                        <a:rPr lang="hu-HU" sz="1100" baseline="0" dirty="0" smtClean="0"/>
                        <a:t> ok 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Nagy</a:t>
                      </a:r>
                      <a:r>
                        <a:rPr lang="hu-HU" sz="1100" baseline="0" dirty="0" smtClean="0"/>
                        <a:t> Lajos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2022.01.10.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97754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1" u="sng" dirty="0" smtClean="0">
                          <a:solidFill>
                            <a:srgbClr val="00B0F0"/>
                          </a:solidFill>
                        </a:rPr>
                        <a:t>Szerkesztés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207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Súlyos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Probléma a szerverrel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2022.01.06.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Somogyi Tibor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471985"/>
                  </a:ext>
                </a:extLst>
              </a:tr>
            </a:tbl>
          </a:graphicData>
        </a:graphic>
      </p:graphicFrame>
      <p:cxnSp>
        <p:nvCxnSpPr>
          <p:cNvPr id="31" name="Egyenes összekötő nyíllal 30"/>
          <p:cNvCxnSpPr/>
          <p:nvPr/>
        </p:nvCxnSpPr>
        <p:spPr>
          <a:xfrm>
            <a:off x="3721390" y="790575"/>
            <a:ext cx="2177843" cy="119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zövegdoboz 33"/>
          <p:cNvSpPr txBox="1"/>
          <p:nvPr/>
        </p:nvSpPr>
        <p:spPr>
          <a:xfrm>
            <a:off x="3032271" y="485625"/>
            <a:ext cx="983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Autó ma</a:t>
            </a:r>
            <a:endParaRPr lang="hu-HU" dirty="0"/>
          </a:p>
        </p:txBody>
      </p:sp>
      <p:sp>
        <p:nvSpPr>
          <p:cNvPr id="35" name="Szövegdoboz 34"/>
          <p:cNvSpPr txBox="1"/>
          <p:nvPr/>
        </p:nvSpPr>
        <p:spPr>
          <a:xfrm>
            <a:off x="10260473" y="1559036"/>
            <a:ext cx="14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 smtClean="0">
                <a:solidFill>
                  <a:schemeClr val="accent1">
                    <a:lumMod val="75000"/>
                  </a:schemeClr>
                </a:solidFill>
                <a:hlinkClick r:id="rId3" action="ppaction://hlinksldjump"/>
              </a:rPr>
              <a:t>Kijelentkezés</a:t>
            </a:r>
            <a:endParaRPr lang="hu-HU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Lekerekített téglalap 36">
            <a:hlinkClick r:id="rId4" action="ppaction://hlinksldjump"/>
          </p:cNvPr>
          <p:cNvSpPr/>
          <p:nvPr/>
        </p:nvSpPr>
        <p:spPr>
          <a:xfrm>
            <a:off x="1734503" y="1246302"/>
            <a:ext cx="1642327" cy="32165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+</a:t>
            </a:r>
          </a:p>
        </p:txBody>
      </p:sp>
      <p:sp>
        <p:nvSpPr>
          <p:cNvPr id="39" name="Lekerekített téglalap 38"/>
          <p:cNvSpPr/>
          <p:nvPr/>
        </p:nvSpPr>
        <p:spPr>
          <a:xfrm>
            <a:off x="737814" y="1250295"/>
            <a:ext cx="1310592" cy="334744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100" dirty="0" smtClean="0"/>
              <a:t>Kiss Titusz (V)</a:t>
            </a:r>
            <a:endParaRPr lang="hu-HU" sz="1100" dirty="0"/>
          </a:p>
        </p:txBody>
      </p:sp>
      <p:sp>
        <p:nvSpPr>
          <p:cNvPr id="40" name="Téglalap 39"/>
          <p:cNvSpPr/>
          <p:nvPr/>
        </p:nvSpPr>
        <p:spPr>
          <a:xfrm>
            <a:off x="737814" y="1252240"/>
            <a:ext cx="117011" cy="3188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Lekerekített téglalap 23">
            <a:hlinkClick r:id="rId5" action="ppaction://hlinksldjump"/>
          </p:cNvPr>
          <p:cNvSpPr/>
          <p:nvPr/>
        </p:nvSpPr>
        <p:spPr>
          <a:xfrm>
            <a:off x="3033587" y="1244042"/>
            <a:ext cx="1642327" cy="321656"/>
          </a:xfrm>
          <a:prstGeom prst="roundRect">
            <a:avLst>
              <a:gd name="adj" fmla="val 50000"/>
            </a:avLst>
          </a:prstGeom>
          <a:solidFill>
            <a:srgbClr val="99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Vezető</a:t>
            </a:r>
            <a:endParaRPr lang="hu-HU" dirty="0"/>
          </a:p>
        </p:txBody>
      </p:sp>
      <p:sp>
        <p:nvSpPr>
          <p:cNvPr id="3" name="Téglalap 2"/>
          <p:cNvSpPr/>
          <p:nvPr/>
        </p:nvSpPr>
        <p:spPr>
          <a:xfrm>
            <a:off x="3001077" y="1246302"/>
            <a:ext cx="355938" cy="307698"/>
          </a:xfrm>
          <a:prstGeom prst="rect">
            <a:avLst/>
          </a:prstGeom>
          <a:solidFill>
            <a:srgbClr val="9966FF"/>
          </a:solidFill>
          <a:ln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6" name="Egyenes összekötő nyíllal 25"/>
          <p:cNvCxnSpPr/>
          <p:nvPr/>
        </p:nvCxnSpPr>
        <p:spPr>
          <a:xfrm>
            <a:off x="3721390" y="809073"/>
            <a:ext cx="266722" cy="1263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77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églalap 24"/>
          <p:cNvSpPr/>
          <p:nvPr/>
        </p:nvSpPr>
        <p:spPr>
          <a:xfrm>
            <a:off x="755073" y="1252670"/>
            <a:ext cx="10899371" cy="5605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231594"/>
            <a:ext cx="10515600" cy="1325563"/>
          </a:xfrm>
        </p:spPr>
        <p:txBody>
          <a:bodyPr/>
          <a:lstStyle/>
          <a:p>
            <a:pPr algn="ctr"/>
            <a:r>
              <a:rPr lang="hu-HU" dirty="0" smtClean="0"/>
              <a:t>Vezető</a:t>
            </a:r>
            <a:endParaRPr lang="hu-HU" dirty="0"/>
          </a:p>
        </p:txBody>
      </p:sp>
      <p:sp>
        <p:nvSpPr>
          <p:cNvPr id="5" name="Téglalap 4"/>
          <p:cNvSpPr/>
          <p:nvPr/>
        </p:nvSpPr>
        <p:spPr>
          <a:xfrm>
            <a:off x="755073" y="1562793"/>
            <a:ext cx="10899371" cy="52952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6" name="Szövegdoboz 5"/>
          <p:cNvSpPr txBox="1"/>
          <p:nvPr/>
        </p:nvSpPr>
        <p:spPr>
          <a:xfrm>
            <a:off x="2040727" y="1803226"/>
            <a:ext cx="1072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Kategória</a:t>
            </a:r>
            <a:endParaRPr lang="hu-HU" dirty="0"/>
          </a:p>
        </p:txBody>
      </p:sp>
      <p:sp>
        <p:nvSpPr>
          <p:cNvPr id="7" name="Téglalap 6"/>
          <p:cNvSpPr/>
          <p:nvPr/>
        </p:nvSpPr>
        <p:spPr>
          <a:xfrm>
            <a:off x="2040727" y="2172558"/>
            <a:ext cx="1163781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Háromszög 7"/>
          <p:cNvSpPr/>
          <p:nvPr/>
        </p:nvSpPr>
        <p:spPr>
          <a:xfrm rot="10800000">
            <a:off x="2065666" y="2285095"/>
            <a:ext cx="103956" cy="1006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4050967" y="1803226"/>
            <a:ext cx="504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-</a:t>
            </a:r>
            <a:r>
              <a:rPr lang="hu-HU" dirty="0" err="1" smtClean="0"/>
              <a:t>tól</a:t>
            </a:r>
            <a:endParaRPr lang="hu-HU" dirty="0"/>
          </a:p>
        </p:txBody>
      </p:sp>
      <p:sp>
        <p:nvSpPr>
          <p:cNvPr id="10" name="Téglalap 9"/>
          <p:cNvSpPr/>
          <p:nvPr/>
        </p:nvSpPr>
        <p:spPr>
          <a:xfrm>
            <a:off x="3721390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2022.01.10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doboz 10"/>
          <p:cNvSpPr txBox="1"/>
          <p:nvPr/>
        </p:nvSpPr>
        <p:spPr>
          <a:xfrm>
            <a:off x="5899233" y="1803226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-</a:t>
            </a:r>
            <a:r>
              <a:rPr lang="hu-HU" dirty="0" err="1" smtClean="0"/>
              <a:t>ig</a:t>
            </a:r>
            <a:endParaRPr lang="hu-HU" dirty="0"/>
          </a:p>
        </p:txBody>
      </p:sp>
      <p:sp>
        <p:nvSpPr>
          <p:cNvPr id="12" name="Téglalap 11"/>
          <p:cNvSpPr/>
          <p:nvPr/>
        </p:nvSpPr>
        <p:spPr>
          <a:xfrm>
            <a:off x="5569656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2022.01.10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3" name="Szövegdoboz 12"/>
          <p:cNvSpPr txBox="1"/>
          <p:nvPr/>
        </p:nvSpPr>
        <p:spPr>
          <a:xfrm>
            <a:off x="7524592" y="1803226"/>
            <a:ext cx="95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Kulcsszó</a:t>
            </a:r>
            <a:endParaRPr lang="hu-HU" dirty="0"/>
          </a:p>
        </p:txBody>
      </p:sp>
      <p:sp>
        <p:nvSpPr>
          <p:cNvPr id="14" name="Téglalap 13"/>
          <p:cNvSpPr/>
          <p:nvPr/>
        </p:nvSpPr>
        <p:spPr>
          <a:xfrm>
            <a:off x="7382239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’’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5" name="Szövegdoboz 14"/>
          <p:cNvSpPr txBox="1"/>
          <p:nvPr/>
        </p:nvSpPr>
        <p:spPr>
          <a:xfrm>
            <a:off x="9501480" y="1803226"/>
            <a:ext cx="55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Név</a:t>
            </a:r>
            <a:endParaRPr lang="hu-HU" dirty="0"/>
          </a:p>
        </p:txBody>
      </p:sp>
      <p:sp>
        <p:nvSpPr>
          <p:cNvPr id="16" name="Téglalap 15"/>
          <p:cNvSpPr/>
          <p:nvPr/>
        </p:nvSpPr>
        <p:spPr>
          <a:xfrm>
            <a:off x="9155513" y="2172558"/>
            <a:ext cx="124413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’’</a:t>
            </a:r>
            <a:endParaRPr lang="hu-HU" dirty="0">
              <a:solidFill>
                <a:schemeClr val="tx1"/>
              </a:solidFill>
            </a:endParaRPr>
          </a:p>
        </p:txBody>
      </p:sp>
      <p:graphicFrame>
        <p:nvGraphicFramePr>
          <p:cNvPr id="20" name="Tábláza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301724"/>
              </p:ext>
            </p:extLst>
          </p:nvPr>
        </p:nvGraphicFramePr>
        <p:xfrm>
          <a:off x="2002360" y="2874397"/>
          <a:ext cx="7665777" cy="116344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93265">
                  <a:extLst>
                    <a:ext uri="{9D8B030D-6E8A-4147-A177-3AD203B41FA5}">
                      <a16:colId xmlns:a16="http://schemas.microsoft.com/office/drawing/2014/main" val="2010969378"/>
                    </a:ext>
                  </a:extLst>
                </a:gridCol>
                <a:gridCol w="1096957">
                  <a:extLst>
                    <a:ext uri="{9D8B030D-6E8A-4147-A177-3AD203B41FA5}">
                      <a16:colId xmlns:a16="http://schemas.microsoft.com/office/drawing/2014/main" val="1162817573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344912628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4081424127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824462106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2076310692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476648355"/>
                    </a:ext>
                  </a:extLst>
                </a:gridCol>
              </a:tblGrid>
              <a:tr h="569086">
                <a:tc>
                  <a:txBody>
                    <a:bodyPr/>
                    <a:lstStyle/>
                    <a:p>
                      <a:endParaRPr lang="hu-HU" sz="1100" b="0" i="1" u="sng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100" b="1" dirty="0" err="1" smtClean="0"/>
                        <a:t>id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100" b="1" dirty="0" smtClean="0"/>
                        <a:t>kategória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Leírás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Dátum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Író</a:t>
                      </a:r>
                      <a:endParaRPr lang="hu-HU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b="1" dirty="0" smtClean="0"/>
                        <a:t>Rögzítés</a:t>
                      </a:r>
                      <a:endParaRPr lang="hu-HU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92165"/>
                  </a:ext>
                </a:extLst>
              </a:tr>
              <a:tr h="5690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b="0" i="1" u="sng" dirty="0" smtClean="0">
                          <a:solidFill>
                            <a:srgbClr val="00B0F0"/>
                          </a:solidFill>
                        </a:rPr>
                        <a:t>Szerkesztés</a:t>
                      </a:r>
                      <a:endParaRPr lang="hu-HU" sz="1100" b="0" i="1" u="sng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  <a:p>
                      <a:r>
                        <a:rPr lang="hu-HU" sz="1100" dirty="0" smtClean="0"/>
                        <a:t>Előzmények</a:t>
                      </a:r>
                      <a:r>
                        <a:rPr lang="hu-HU" sz="1100" baseline="0" dirty="0" smtClean="0"/>
                        <a:t>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u="sng" dirty="0" smtClean="0">
                          <a:solidFill>
                            <a:srgbClr val="00B0F0"/>
                          </a:solidFill>
                          <a:hlinkClick r:id="rId2" action="ppaction://hlinksldjump"/>
                        </a:rPr>
                        <a:t>209; 206</a:t>
                      </a:r>
                      <a:endParaRPr lang="hu-HU" sz="1100" u="sng" dirty="0" smtClean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211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Súlyos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A gép meghibásodott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2022.01.09.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Somogyi</a:t>
                      </a:r>
                      <a:r>
                        <a:rPr lang="hu-HU" sz="1100" baseline="0" dirty="0" smtClean="0"/>
                        <a:t> Tibor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</a:p>
                    <a:p>
                      <a:r>
                        <a:rPr lang="hu-HU" sz="110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(</a:t>
                      </a:r>
                      <a:r>
                        <a:rPr lang="hu-HU" sz="1100" dirty="0" err="1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auto</a:t>
                      </a:r>
                      <a:r>
                        <a:rPr lang="hu-HU" sz="110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)</a:t>
                      </a:r>
                      <a:endParaRPr lang="hu-HU" sz="11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309660"/>
                  </a:ext>
                </a:extLst>
              </a:tr>
            </a:tbl>
          </a:graphicData>
        </a:graphic>
      </p:graphicFrame>
      <p:cxnSp>
        <p:nvCxnSpPr>
          <p:cNvPr id="31" name="Egyenes összekötő nyíllal 30"/>
          <p:cNvCxnSpPr/>
          <p:nvPr/>
        </p:nvCxnSpPr>
        <p:spPr>
          <a:xfrm>
            <a:off x="3721390" y="790575"/>
            <a:ext cx="2177843" cy="119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zövegdoboz 33"/>
          <p:cNvSpPr txBox="1"/>
          <p:nvPr/>
        </p:nvSpPr>
        <p:spPr>
          <a:xfrm>
            <a:off x="3032271" y="485625"/>
            <a:ext cx="983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Autó ma</a:t>
            </a:r>
            <a:endParaRPr lang="hu-HU" dirty="0"/>
          </a:p>
        </p:txBody>
      </p:sp>
      <p:sp>
        <p:nvSpPr>
          <p:cNvPr id="35" name="Szövegdoboz 34"/>
          <p:cNvSpPr txBox="1"/>
          <p:nvPr/>
        </p:nvSpPr>
        <p:spPr>
          <a:xfrm>
            <a:off x="10260473" y="1559036"/>
            <a:ext cx="14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 smtClean="0">
                <a:solidFill>
                  <a:schemeClr val="accent1">
                    <a:lumMod val="75000"/>
                  </a:schemeClr>
                </a:solidFill>
                <a:hlinkClick r:id="rId3" action="ppaction://hlinksldjump"/>
              </a:rPr>
              <a:t>Kijelentkezés</a:t>
            </a:r>
            <a:endParaRPr lang="hu-HU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Lekerekített téglalap 36">
            <a:hlinkClick r:id="rId4" action="ppaction://hlinksldjump"/>
          </p:cNvPr>
          <p:cNvSpPr/>
          <p:nvPr/>
        </p:nvSpPr>
        <p:spPr>
          <a:xfrm>
            <a:off x="1734503" y="1246302"/>
            <a:ext cx="1642327" cy="32165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+</a:t>
            </a:r>
          </a:p>
        </p:txBody>
      </p:sp>
      <p:sp>
        <p:nvSpPr>
          <p:cNvPr id="39" name="Lekerekített téglalap 38"/>
          <p:cNvSpPr/>
          <p:nvPr/>
        </p:nvSpPr>
        <p:spPr>
          <a:xfrm>
            <a:off x="737814" y="1250295"/>
            <a:ext cx="1310592" cy="334744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100" dirty="0" smtClean="0"/>
              <a:t>Kiss Titusz (V)</a:t>
            </a:r>
            <a:endParaRPr lang="hu-HU" sz="1100" dirty="0"/>
          </a:p>
        </p:txBody>
      </p:sp>
      <p:sp>
        <p:nvSpPr>
          <p:cNvPr id="40" name="Téglalap 39"/>
          <p:cNvSpPr/>
          <p:nvPr/>
        </p:nvSpPr>
        <p:spPr>
          <a:xfrm>
            <a:off x="737814" y="1252240"/>
            <a:ext cx="117011" cy="3188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Lekerekített téglalap 23">
            <a:hlinkClick r:id="rId5" action="ppaction://hlinksldjump"/>
          </p:cNvPr>
          <p:cNvSpPr/>
          <p:nvPr/>
        </p:nvSpPr>
        <p:spPr>
          <a:xfrm>
            <a:off x="3033587" y="1244042"/>
            <a:ext cx="1642327" cy="321656"/>
          </a:xfrm>
          <a:prstGeom prst="roundRect">
            <a:avLst>
              <a:gd name="adj" fmla="val 50000"/>
            </a:avLst>
          </a:prstGeom>
          <a:solidFill>
            <a:srgbClr val="99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Vezető</a:t>
            </a:r>
            <a:endParaRPr lang="hu-HU" dirty="0"/>
          </a:p>
        </p:txBody>
      </p:sp>
      <p:sp>
        <p:nvSpPr>
          <p:cNvPr id="3" name="Téglalap 2"/>
          <p:cNvSpPr/>
          <p:nvPr/>
        </p:nvSpPr>
        <p:spPr>
          <a:xfrm>
            <a:off x="3001077" y="1246302"/>
            <a:ext cx="355938" cy="307698"/>
          </a:xfrm>
          <a:prstGeom prst="rect">
            <a:avLst/>
          </a:prstGeom>
          <a:solidFill>
            <a:srgbClr val="9966FF"/>
          </a:solidFill>
          <a:ln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6" name="Egyenes összekötő nyíllal 25"/>
          <p:cNvCxnSpPr/>
          <p:nvPr/>
        </p:nvCxnSpPr>
        <p:spPr>
          <a:xfrm>
            <a:off x="3721390" y="809073"/>
            <a:ext cx="266722" cy="1263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ábláza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907351"/>
              </p:ext>
            </p:extLst>
          </p:nvPr>
        </p:nvGraphicFramePr>
        <p:xfrm>
          <a:off x="2002360" y="4839576"/>
          <a:ext cx="7665777" cy="121050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95111">
                  <a:extLst>
                    <a:ext uri="{9D8B030D-6E8A-4147-A177-3AD203B41FA5}">
                      <a16:colId xmlns:a16="http://schemas.microsoft.com/office/drawing/2014/main" val="1285490630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2034111198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2268848945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4264449868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2444396717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442395392"/>
                    </a:ext>
                  </a:extLst>
                </a:gridCol>
                <a:gridCol w="1095111">
                  <a:extLst>
                    <a:ext uri="{9D8B030D-6E8A-4147-A177-3AD203B41FA5}">
                      <a16:colId xmlns:a16="http://schemas.microsoft.com/office/drawing/2014/main" val="3369842973"/>
                    </a:ext>
                  </a:extLst>
                </a:gridCol>
              </a:tblGrid>
              <a:tr h="3771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u="sng" dirty="0" smtClean="0"/>
                        <a:t>Szerkesztés</a:t>
                      </a:r>
                      <a:endParaRPr lang="hu-HU" sz="1100" b="0" i="1" u="sng" dirty="0" smtClean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210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Jó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Felülvizsgálás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Kiss</a:t>
                      </a:r>
                      <a:r>
                        <a:rPr lang="hu-HU" sz="1100" baseline="0" dirty="0" smtClean="0"/>
                        <a:t> Pista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77560"/>
                  </a:ext>
                </a:extLst>
              </a:tr>
              <a:tr h="3771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u="sng" dirty="0" smtClean="0"/>
                        <a:t>Szerkesztés</a:t>
                      </a:r>
                      <a:endParaRPr lang="hu-HU" sz="1100" b="0" i="1" u="sng" dirty="0" smtClean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208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Jó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Minden</a:t>
                      </a:r>
                      <a:r>
                        <a:rPr lang="hu-HU" sz="1100" baseline="0" dirty="0" smtClean="0"/>
                        <a:t> ok 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Nagy</a:t>
                      </a:r>
                      <a:r>
                        <a:rPr lang="hu-HU" sz="1100" baseline="0" dirty="0" smtClean="0"/>
                        <a:t> Lajos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2022.01.10.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345691"/>
                  </a:ext>
                </a:extLst>
              </a:tr>
              <a:tr h="4561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u="sng" dirty="0" smtClean="0"/>
                        <a:t>Szerkesztés</a:t>
                      </a:r>
                      <a:endParaRPr lang="hu-HU" sz="1100" b="0" i="1" u="sng" dirty="0" smtClean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207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Súlyos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Probléma a szerverrel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2022.01.06.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Somogyi Tibor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2022.01.10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231085"/>
                  </a:ext>
                </a:extLst>
              </a:tr>
            </a:tbl>
          </a:graphicData>
        </a:graphic>
      </p:graphicFrame>
      <p:graphicFrame>
        <p:nvGraphicFramePr>
          <p:cNvPr id="38" name="Tábláza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268067"/>
              </p:ext>
            </p:extLst>
          </p:nvPr>
        </p:nvGraphicFramePr>
        <p:xfrm>
          <a:off x="3109820" y="4044211"/>
          <a:ext cx="6558317" cy="82716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94587">
                  <a:extLst>
                    <a:ext uri="{9D8B030D-6E8A-4147-A177-3AD203B41FA5}">
                      <a16:colId xmlns:a16="http://schemas.microsoft.com/office/drawing/2014/main" val="1162817573"/>
                    </a:ext>
                  </a:extLst>
                </a:gridCol>
                <a:gridCol w="1092746">
                  <a:extLst>
                    <a:ext uri="{9D8B030D-6E8A-4147-A177-3AD203B41FA5}">
                      <a16:colId xmlns:a16="http://schemas.microsoft.com/office/drawing/2014/main" val="344912628"/>
                    </a:ext>
                  </a:extLst>
                </a:gridCol>
                <a:gridCol w="1092746">
                  <a:extLst>
                    <a:ext uri="{9D8B030D-6E8A-4147-A177-3AD203B41FA5}">
                      <a16:colId xmlns:a16="http://schemas.microsoft.com/office/drawing/2014/main" val="4081424127"/>
                    </a:ext>
                  </a:extLst>
                </a:gridCol>
                <a:gridCol w="1092746">
                  <a:extLst>
                    <a:ext uri="{9D8B030D-6E8A-4147-A177-3AD203B41FA5}">
                      <a16:colId xmlns:a16="http://schemas.microsoft.com/office/drawing/2014/main" val="824462106"/>
                    </a:ext>
                  </a:extLst>
                </a:gridCol>
                <a:gridCol w="1092746">
                  <a:extLst>
                    <a:ext uri="{9D8B030D-6E8A-4147-A177-3AD203B41FA5}">
                      <a16:colId xmlns:a16="http://schemas.microsoft.com/office/drawing/2014/main" val="2076310692"/>
                    </a:ext>
                  </a:extLst>
                </a:gridCol>
                <a:gridCol w="1092746">
                  <a:extLst>
                    <a:ext uri="{9D8B030D-6E8A-4147-A177-3AD203B41FA5}">
                      <a16:colId xmlns:a16="http://schemas.microsoft.com/office/drawing/2014/main" val="476648355"/>
                    </a:ext>
                  </a:extLst>
                </a:gridCol>
              </a:tblGrid>
              <a:tr h="310856"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209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Súlyos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Nem</a:t>
                      </a:r>
                      <a:r>
                        <a:rPr lang="hu-HU" sz="1100" baseline="0" dirty="0" smtClean="0"/>
                        <a:t> jó valami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2022.01.09.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Somogyi</a:t>
                      </a:r>
                      <a:r>
                        <a:rPr lang="hu-HU" sz="1100" baseline="0" dirty="0" smtClean="0"/>
                        <a:t> Tibor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2022.01.09.</a:t>
                      </a:r>
                      <a:endParaRPr lang="hu-H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92165"/>
                  </a:ext>
                </a:extLst>
              </a:tr>
              <a:tr h="516305"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206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Súlyos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 smtClean="0"/>
                        <a:t>Nem</a:t>
                      </a:r>
                      <a:r>
                        <a:rPr lang="hu-HU" sz="1100" baseline="0" dirty="0" smtClean="0"/>
                        <a:t> jó valami</a:t>
                      </a:r>
                      <a:endParaRPr lang="hu-HU" sz="11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100" dirty="0" smtClean="0"/>
                        <a:t>2026.12.08</a:t>
                      </a:r>
                      <a:endParaRPr lang="hu-H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 smtClean="0"/>
                        <a:t>Somogyi</a:t>
                      </a:r>
                      <a:r>
                        <a:rPr lang="hu-HU" sz="1100" baseline="0" dirty="0" smtClean="0"/>
                        <a:t> Tibor</a:t>
                      </a:r>
                      <a:endParaRPr lang="hu-HU" sz="11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 smtClean="0"/>
                        <a:t>2022.01.07.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309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73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églalap 24"/>
          <p:cNvSpPr/>
          <p:nvPr/>
        </p:nvSpPr>
        <p:spPr>
          <a:xfrm>
            <a:off x="755073" y="1252670"/>
            <a:ext cx="10899371" cy="5605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55459" y="0"/>
            <a:ext cx="10515600" cy="1250295"/>
          </a:xfrm>
        </p:spPr>
        <p:txBody>
          <a:bodyPr/>
          <a:lstStyle/>
          <a:p>
            <a:pPr algn="ctr"/>
            <a:r>
              <a:rPr lang="hu-HU" dirty="0" smtClean="0"/>
              <a:t>Vezető felület </a:t>
            </a:r>
            <a:r>
              <a:rPr lang="hu-HU" dirty="0"/>
              <a:t>felvivő</a:t>
            </a:r>
            <a:r>
              <a:rPr lang="hu-HU" dirty="0" smtClean="0"/>
              <a:t> </a:t>
            </a:r>
            <a:endParaRPr lang="hu-HU" dirty="0"/>
          </a:p>
        </p:txBody>
      </p:sp>
      <p:sp>
        <p:nvSpPr>
          <p:cNvPr id="5" name="Téglalap 4"/>
          <p:cNvSpPr/>
          <p:nvPr/>
        </p:nvSpPr>
        <p:spPr>
          <a:xfrm>
            <a:off x="755073" y="1562793"/>
            <a:ext cx="10899371" cy="5295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" name="Téglalap 39"/>
          <p:cNvSpPr/>
          <p:nvPr/>
        </p:nvSpPr>
        <p:spPr>
          <a:xfrm>
            <a:off x="737814" y="1243927"/>
            <a:ext cx="100386" cy="3188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 23"/>
          <p:cNvSpPr/>
          <p:nvPr/>
        </p:nvSpPr>
        <p:spPr>
          <a:xfrm>
            <a:off x="2040727" y="2172558"/>
            <a:ext cx="1163781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Háromszög 25"/>
          <p:cNvSpPr/>
          <p:nvPr/>
        </p:nvSpPr>
        <p:spPr>
          <a:xfrm rot="10800000">
            <a:off x="2065666" y="2285095"/>
            <a:ext cx="103956" cy="1006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/>
          <p:cNvSpPr txBox="1"/>
          <p:nvPr/>
        </p:nvSpPr>
        <p:spPr>
          <a:xfrm>
            <a:off x="2008217" y="1832831"/>
            <a:ext cx="1078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kategória</a:t>
            </a:r>
            <a:endParaRPr lang="hu-HU" dirty="0"/>
          </a:p>
        </p:txBody>
      </p:sp>
      <p:sp>
        <p:nvSpPr>
          <p:cNvPr id="4" name="Téglalap 3"/>
          <p:cNvSpPr/>
          <p:nvPr/>
        </p:nvSpPr>
        <p:spPr>
          <a:xfrm>
            <a:off x="2008217" y="2559266"/>
            <a:ext cx="73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t"/>
            <a:r>
              <a:rPr lang="hu-HU" b="1" dirty="0"/>
              <a:t>Leírás</a:t>
            </a:r>
            <a:endParaRPr lang="hu-HU" dirty="0"/>
          </a:p>
        </p:txBody>
      </p:sp>
      <p:sp>
        <p:nvSpPr>
          <p:cNvPr id="29" name="Téglalap 28"/>
          <p:cNvSpPr/>
          <p:nvPr/>
        </p:nvSpPr>
        <p:spPr>
          <a:xfrm>
            <a:off x="2040727" y="2957308"/>
            <a:ext cx="3245648" cy="219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/>
          <p:cNvSpPr/>
          <p:nvPr/>
        </p:nvSpPr>
        <p:spPr>
          <a:xfrm>
            <a:off x="2065516" y="5562047"/>
            <a:ext cx="1493260" cy="356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 18"/>
          <p:cNvSpPr/>
          <p:nvPr/>
        </p:nvSpPr>
        <p:spPr>
          <a:xfrm>
            <a:off x="1978776" y="5155508"/>
            <a:ext cx="833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t"/>
            <a:r>
              <a:rPr lang="hu-HU" b="1" dirty="0"/>
              <a:t>Dátum</a:t>
            </a:r>
            <a:endParaRPr lang="hu-HU" dirty="0"/>
          </a:p>
        </p:txBody>
      </p:sp>
      <p:sp>
        <p:nvSpPr>
          <p:cNvPr id="22" name="Lekerekített téglalap 21"/>
          <p:cNvSpPr/>
          <p:nvPr/>
        </p:nvSpPr>
        <p:spPr>
          <a:xfrm>
            <a:off x="2048406" y="6122152"/>
            <a:ext cx="1714500" cy="609600"/>
          </a:xfrm>
          <a:prstGeom prst="roundRect">
            <a:avLst>
              <a:gd name="adj" fmla="val 369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Mentés</a:t>
            </a:r>
            <a:endParaRPr lang="hu-HU" dirty="0"/>
          </a:p>
        </p:txBody>
      </p:sp>
      <p:sp>
        <p:nvSpPr>
          <p:cNvPr id="16" name="Lekerekített téglalap 15">
            <a:hlinkClick r:id="rId2" action="ppaction://hlinksldjump"/>
          </p:cNvPr>
          <p:cNvSpPr/>
          <p:nvPr/>
        </p:nvSpPr>
        <p:spPr>
          <a:xfrm>
            <a:off x="3033587" y="1244042"/>
            <a:ext cx="1642327" cy="321656"/>
          </a:xfrm>
          <a:prstGeom prst="roundRect">
            <a:avLst>
              <a:gd name="adj" fmla="val 50000"/>
            </a:avLst>
          </a:prstGeom>
          <a:solidFill>
            <a:srgbClr val="99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Vezető</a:t>
            </a:r>
            <a:endParaRPr lang="hu-HU" dirty="0"/>
          </a:p>
        </p:txBody>
      </p:sp>
      <p:sp>
        <p:nvSpPr>
          <p:cNvPr id="17" name="Téglalap 16"/>
          <p:cNvSpPr/>
          <p:nvPr/>
        </p:nvSpPr>
        <p:spPr>
          <a:xfrm>
            <a:off x="3027836" y="1243145"/>
            <a:ext cx="319654" cy="320380"/>
          </a:xfrm>
          <a:prstGeom prst="rect">
            <a:avLst/>
          </a:prstGeom>
          <a:solidFill>
            <a:srgbClr val="9966FF"/>
          </a:solidFill>
          <a:ln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Lekerekített téglalap 36"/>
          <p:cNvSpPr/>
          <p:nvPr/>
        </p:nvSpPr>
        <p:spPr>
          <a:xfrm>
            <a:off x="1823381" y="1246302"/>
            <a:ext cx="1553449" cy="32165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+</a:t>
            </a:r>
          </a:p>
        </p:txBody>
      </p:sp>
      <p:sp>
        <p:nvSpPr>
          <p:cNvPr id="39" name="Lekerekített téglalap 38">
            <a:hlinkClick r:id="rId3" action="ppaction://hlinksldjump"/>
          </p:cNvPr>
          <p:cNvSpPr/>
          <p:nvPr/>
        </p:nvSpPr>
        <p:spPr>
          <a:xfrm>
            <a:off x="737814" y="1250295"/>
            <a:ext cx="1310592" cy="334744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100" dirty="0" smtClean="0"/>
              <a:t>Kiss Titusz (V)</a:t>
            </a:r>
            <a:endParaRPr lang="hu-HU" sz="1100" dirty="0"/>
          </a:p>
        </p:txBody>
      </p:sp>
    </p:spTree>
    <p:extLst>
      <p:ext uri="{BB962C8B-B14F-4D97-AF65-F5344CB8AC3E}">
        <p14:creationId xmlns:p14="http://schemas.microsoft.com/office/powerpoint/2010/main" val="145843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705197" y="230204"/>
            <a:ext cx="10899371" cy="5605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705197" y="540327"/>
            <a:ext cx="10899371" cy="6317673"/>
          </a:xfrm>
          <a:prstGeom prst="rect">
            <a:avLst/>
          </a:prstGeom>
          <a:solidFill>
            <a:srgbClr val="9966FF"/>
          </a:solidFill>
          <a:ln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6" name="Téglalap 5"/>
          <p:cNvSpPr/>
          <p:nvPr/>
        </p:nvSpPr>
        <p:spPr>
          <a:xfrm>
            <a:off x="687938" y="221461"/>
            <a:ext cx="100386" cy="3188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Lekerekített téglalap 14"/>
          <p:cNvSpPr/>
          <p:nvPr/>
        </p:nvSpPr>
        <p:spPr>
          <a:xfrm>
            <a:off x="2983711" y="231101"/>
            <a:ext cx="1642327" cy="321656"/>
          </a:xfrm>
          <a:prstGeom prst="roundRect">
            <a:avLst>
              <a:gd name="adj" fmla="val 50000"/>
            </a:avLst>
          </a:prstGeom>
          <a:solidFill>
            <a:srgbClr val="99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Vezető</a:t>
            </a:r>
            <a:endParaRPr lang="hu-HU" dirty="0"/>
          </a:p>
        </p:txBody>
      </p:sp>
      <p:sp>
        <p:nvSpPr>
          <p:cNvPr id="16" name="Téglalap 15"/>
          <p:cNvSpPr/>
          <p:nvPr/>
        </p:nvSpPr>
        <p:spPr>
          <a:xfrm>
            <a:off x="2977960" y="220679"/>
            <a:ext cx="319654" cy="320380"/>
          </a:xfrm>
          <a:prstGeom prst="rect">
            <a:avLst/>
          </a:prstGeom>
          <a:solidFill>
            <a:srgbClr val="9966FF"/>
          </a:solidFill>
          <a:ln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Lekerekített téglalap 16">
            <a:hlinkClick r:id="rId2" action="ppaction://hlinksldjump"/>
          </p:cNvPr>
          <p:cNvSpPr/>
          <p:nvPr/>
        </p:nvSpPr>
        <p:spPr>
          <a:xfrm>
            <a:off x="1773505" y="220679"/>
            <a:ext cx="1553449" cy="324813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+</a:t>
            </a:r>
          </a:p>
        </p:txBody>
      </p:sp>
      <p:sp>
        <p:nvSpPr>
          <p:cNvPr id="26" name="Lekerekített téglalap 25"/>
          <p:cNvSpPr/>
          <p:nvPr/>
        </p:nvSpPr>
        <p:spPr>
          <a:xfrm>
            <a:off x="1495598" y="710576"/>
            <a:ext cx="9318567" cy="14341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" name="Lekerekített téglalap 17">
            <a:hlinkClick r:id="rId3" action="ppaction://hlinksldjump"/>
          </p:cNvPr>
          <p:cNvSpPr/>
          <p:nvPr/>
        </p:nvSpPr>
        <p:spPr>
          <a:xfrm>
            <a:off x="687938" y="227829"/>
            <a:ext cx="1310592" cy="334744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100" dirty="0" smtClean="0"/>
              <a:t>Kiss Titusz (V)</a:t>
            </a:r>
            <a:endParaRPr lang="hu-HU" sz="1100" dirty="0"/>
          </a:p>
        </p:txBody>
      </p:sp>
      <p:sp>
        <p:nvSpPr>
          <p:cNvPr id="19" name="Téglalap 18"/>
          <p:cNvSpPr/>
          <p:nvPr/>
        </p:nvSpPr>
        <p:spPr>
          <a:xfrm>
            <a:off x="2979776" y="233361"/>
            <a:ext cx="355938" cy="307698"/>
          </a:xfrm>
          <a:prstGeom prst="rect">
            <a:avLst/>
          </a:prstGeom>
          <a:solidFill>
            <a:srgbClr val="9966FF"/>
          </a:solidFill>
          <a:ln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/>
          <p:cNvSpPr/>
          <p:nvPr/>
        </p:nvSpPr>
        <p:spPr>
          <a:xfrm>
            <a:off x="1773506" y="1133467"/>
            <a:ext cx="113595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Háromszög 20"/>
          <p:cNvSpPr/>
          <p:nvPr/>
        </p:nvSpPr>
        <p:spPr>
          <a:xfrm rot="10800000">
            <a:off x="1798444" y="1246004"/>
            <a:ext cx="103956" cy="1006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Szövegdoboz 21"/>
          <p:cNvSpPr txBox="1"/>
          <p:nvPr/>
        </p:nvSpPr>
        <p:spPr>
          <a:xfrm>
            <a:off x="1684273" y="793740"/>
            <a:ext cx="1293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Felhasználó</a:t>
            </a:r>
            <a:endParaRPr lang="hu-HU" dirty="0"/>
          </a:p>
        </p:txBody>
      </p:sp>
      <p:sp>
        <p:nvSpPr>
          <p:cNvPr id="23" name="Téglalap 22"/>
          <p:cNvSpPr/>
          <p:nvPr/>
        </p:nvSpPr>
        <p:spPr>
          <a:xfrm>
            <a:off x="3106726" y="1133467"/>
            <a:ext cx="113595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Háromszög 23"/>
          <p:cNvSpPr/>
          <p:nvPr/>
        </p:nvSpPr>
        <p:spPr>
          <a:xfrm rot="10800000">
            <a:off x="3181364" y="1248941"/>
            <a:ext cx="103956" cy="1006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Szövegdoboz 24"/>
          <p:cNvSpPr txBox="1"/>
          <p:nvPr/>
        </p:nvSpPr>
        <p:spPr>
          <a:xfrm>
            <a:off x="3017493" y="793740"/>
            <a:ext cx="1280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Jogosultság</a:t>
            </a:r>
            <a:endParaRPr lang="hu-HU" dirty="0"/>
          </a:p>
        </p:txBody>
      </p:sp>
      <p:sp>
        <p:nvSpPr>
          <p:cNvPr id="27" name="Lekerekített téglalap 26"/>
          <p:cNvSpPr/>
          <p:nvPr/>
        </p:nvSpPr>
        <p:spPr>
          <a:xfrm>
            <a:off x="8812368" y="1465976"/>
            <a:ext cx="1714500" cy="609600"/>
          </a:xfrm>
          <a:prstGeom prst="roundRect">
            <a:avLst>
              <a:gd name="adj" fmla="val 369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Mentés</a:t>
            </a:r>
            <a:endParaRPr lang="hu-HU" dirty="0"/>
          </a:p>
        </p:txBody>
      </p:sp>
      <p:sp>
        <p:nvSpPr>
          <p:cNvPr id="28" name="Szövegdoboz 27"/>
          <p:cNvSpPr txBox="1"/>
          <p:nvPr/>
        </p:nvSpPr>
        <p:spPr>
          <a:xfrm>
            <a:off x="1731174" y="532792"/>
            <a:ext cx="153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JOGOSULTSÁG</a:t>
            </a:r>
            <a:endParaRPr lang="hu-HU" dirty="0"/>
          </a:p>
        </p:txBody>
      </p:sp>
      <p:sp>
        <p:nvSpPr>
          <p:cNvPr id="37" name="Lekerekített téglalap 36"/>
          <p:cNvSpPr/>
          <p:nvPr/>
        </p:nvSpPr>
        <p:spPr>
          <a:xfrm>
            <a:off x="1495598" y="2382542"/>
            <a:ext cx="9318567" cy="14341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" name="Téglalap 37"/>
          <p:cNvSpPr/>
          <p:nvPr/>
        </p:nvSpPr>
        <p:spPr>
          <a:xfrm>
            <a:off x="1773506" y="2805433"/>
            <a:ext cx="1421584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Szövegdoboz 39"/>
          <p:cNvSpPr txBox="1"/>
          <p:nvPr/>
        </p:nvSpPr>
        <p:spPr>
          <a:xfrm>
            <a:off x="1684273" y="2465706"/>
            <a:ext cx="980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 smtClean="0"/>
              <a:t>LDAP_id</a:t>
            </a:r>
            <a:endParaRPr lang="hu-HU" dirty="0"/>
          </a:p>
        </p:txBody>
      </p:sp>
      <p:sp>
        <p:nvSpPr>
          <p:cNvPr id="41" name="Téglalap 40"/>
          <p:cNvSpPr/>
          <p:nvPr/>
        </p:nvSpPr>
        <p:spPr>
          <a:xfrm>
            <a:off x="3410163" y="2805432"/>
            <a:ext cx="1570569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Lekerekített téglalap 43"/>
          <p:cNvSpPr/>
          <p:nvPr/>
        </p:nvSpPr>
        <p:spPr>
          <a:xfrm>
            <a:off x="8812368" y="3137942"/>
            <a:ext cx="1714500" cy="609600"/>
          </a:xfrm>
          <a:prstGeom prst="roundRect">
            <a:avLst>
              <a:gd name="adj" fmla="val 369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Mentés</a:t>
            </a:r>
            <a:endParaRPr lang="hu-HU" dirty="0"/>
          </a:p>
        </p:txBody>
      </p:sp>
      <p:sp>
        <p:nvSpPr>
          <p:cNvPr id="45" name="Szövegdoboz 44"/>
          <p:cNvSpPr txBox="1"/>
          <p:nvPr/>
        </p:nvSpPr>
        <p:spPr>
          <a:xfrm>
            <a:off x="1709398" y="2198243"/>
            <a:ext cx="149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Új felhasználó</a:t>
            </a:r>
            <a:endParaRPr lang="hu-HU" dirty="0"/>
          </a:p>
        </p:txBody>
      </p:sp>
      <p:sp>
        <p:nvSpPr>
          <p:cNvPr id="46" name="Szövegdoboz 45"/>
          <p:cNvSpPr txBox="1"/>
          <p:nvPr/>
        </p:nvSpPr>
        <p:spPr>
          <a:xfrm>
            <a:off x="3344910" y="2504161"/>
            <a:ext cx="560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Név</a:t>
            </a:r>
            <a:endParaRPr lang="hu-HU" dirty="0"/>
          </a:p>
        </p:txBody>
      </p:sp>
      <p:sp>
        <p:nvSpPr>
          <p:cNvPr id="49" name="Téglalap 48"/>
          <p:cNvSpPr/>
          <p:nvPr/>
        </p:nvSpPr>
        <p:spPr>
          <a:xfrm>
            <a:off x="5120360" y="2835038"/>
            <a:ext cx="113595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Háromszög 49"/>
          <p:cNvSpPr/>
          <p:nvPr/>
        </p:nvSpPr>
        <p:spPr>
          <a:xfrm rot="10800000">
            <a:off x="5194998" y="2950512"/>
            <a:ext cx="103956" cy="1006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Szövegdoboz 50"/>
          <p:cNvSpPr txBox="1"/>
          <p:nvPr/>
        </p:nvSpPr>
        <p:spPr>
          <a:xfrm>
            <a:off x="5031127" y="2495311"/>
            <a:ext cx="1280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Jogosultság</a:t>
            </a:r>
            <a:endParaRPr lang="hu-HU" dirty="0"/>
          </a:p>
        </p:txBody>
      </p:sp>
      <p:sp>
        <p:nvSpPr>
          <p:cNvPr id="61" name="Lekerekített téglalap 60"/>
          <p:cNvSpPr/>
          <p:nvPr/>
        </p:nvSpPr>
        <p:spPr>
          <a:xfrm>
            <a:off x="1495598" y="3990868"/>
            <a:ext cx="9318567" cy="14341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62" name="Téglalap 61"/>
          <p:cNvSpPr/>
          <p:nvPr/>
        </p:nvSpPr>
        <p:spPr>
          <a:xfrm>
            <a:off x="1773506" y="4413759"/>
            <a:ext cx="1421584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63" name="Szövegdoboz 62"/>
          <p:cNvSpPr txBox="1"/>
          <p:nvPr/>
        </p:nvSpPr>
        <p:spPr>
          <a:xfrm>
            <a:off x="1728143" y="4074032"/>
            <a:ext cx="149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 smtClean="0"/>
              <a:t>Kategoria</a:t>
            </a:r>
            <a:r>
              <a:rPr lang="hu-HU" b="1" dirty="0" smtClean="0"/>
              <a:t> név</a:t>
            </a:r>
            <a:endParaRPr lang="hu-HU" b="1" dirty="0"/>
          </a:p>
        </p:txBody>
      </p:sp>
      <p:sp>
        <p:nvSpPr>
          <p:cNvPr id="64" name="Téglalap 63"/>
          <p:cNvSpPr/>
          <p:nvPr/>
        </p:nvSpPr>
        <p:spPr>
          <a:xfrm>
            <a:off x="3410163" y="4413758"/>
            <a:ext cx="1570569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Súlyos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65" name="Lekerekített téglalap 64"/>
          <p:cNvSpPr/>
          <p:nvPr/>
        </p:nvSpPr>
        <p:spPr>
          <a:xfrm>
            <a:off x="8812368" y="4746268"/>
            <a:ext cx="1714500" cy="609600"/>
          </a:xfrm>
          <a:prstGeom prst="roundRect">
            <a:avLst>
              <a:gd name="adj" fmla="val 369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Mentés</a:t>
            </a:r>
            <a:endParaRPr lang="hu-HU" dirty="0"/>
          </a:p>
        </p:txBody>
      </p:sp>
      <p:sp>
        <p:nvSpPr>
          <p:cNvPr id="66" name="Szövegdoboz 65"/>
          <p:cNvSpPr txBox="1"/>
          <p:nvPr/>
        </p:nvSpPr>
        <p:spPr>
          <a:xfrm>
            <a:off x="1709398" y="3806569"/>
            <a:ext cx="1072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Kategória</a:t>
            </a:r>
            <a:endParaRPr lang="hu-HU" dirty="0"/>
          </a:p>
        </p:txBody>
      </p:sp>
      <p:sp>
        <p:nvSpPr>
          <p:cNvPr id="67" name="Szövegdoboz 66"/>
          <p:cNvSpPr txBox="1"/>
          <p:nvPr/>
        </p:nvSpPr>
        <p:spPr>
          <a:xfrm>
            <a:off x="3366086" y="4090924"/>
            <a:ext cx="794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Új név</a:t>
            </a:r>
            <a:endParaRPr lang="hu-HU" dirty="0"/>
          </a:p>
        </p:txBody>
      </p:sp>
      <p:sp>
        <p:nvSpPr>
          <p:cNvPr id="69" name="Háromszög 68"/>
          <p:cNvSpPr/>
          <p:nvPr/>
        </p:nvSpPr>
        <p:spPr>
          <a:xfrm rot="10800000">
            <a:off x="1816712" y="4526228"/>
            <a:ext cx="103956" cy="1006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1" name="Lekerekített téglalap 70"/>
          <p:cNvSpPr/>
          <p:nvPr/>
        </p:nvSpPr>
        <p:spPr>
          <a:xfrm>
            <a:off x="1495597" y="5563144"/>
            <a:ext cx="9318567" cy="12691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72" name="Téglalap 71"/>
          <p:cNvSpPr/>
          <p:nvPr/>
        </p:nvSpPr>
        <p:spPr>
          <a:xfrm>
            <a:off x="1773506" y="5980496"/>
            <a:ext cx="113595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4" name="Szövegdoboz 73"/>
          <p:cNvSpPr txBox="1"/>
          <p:nvPr/>
        </p:nvSpPr>
        <p:spPr>
          <a:xfrm>
            <a:off x="1684273" y="5640769"/>
            <a:ext cx="13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Kategória </a:t>
            </a:r>
            <a:r>
              <a:rPr lang="hu-HU" b="1" dirty="0" err="1" smtClean="0"/>
              <a:t>id</a:t>
            </a:r>
            <a:endParaRPr lang="hu-HU" dirty="0"/>
          </a:p>
        </p:txBody>
      </p:sp>
      <p:sp>
        <p:nvSpPr>
          <p:cNvPr id="75" name="Téglalap 74"/>
          <p:cNvSpPr/>
          <p:nvPr/>
        </p:nvSpPr>
        <p:spPr>
          <a:xfrm>
            <a:off x="3106726" y="5980496"/>
            <a:ext cx="1415398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7" name="Szövegdoboz 76"/>
          <p:cNvSpPr txBox="1"/>
          <p:nvPr/>
        </p:nvSpPr>
        <p:spPr>
          <a:xfrm>
            <a:off x="3017493" y="5640769"/>
            <a:ext cx="1607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Kategória neve</a:t>
            </a:r>
            <a:endParaRPr lang="hu-HU" dirty="0"/>
          </a:p>
        </p:txBody>
      </p:sp>
      <p:sp>
        <p:nvSpPr>
          <p:cNvPr id="78" name="Szövegdoboz 77"/>
          <p:cNvSpPr txBox="1"/>
          <p:nvPr/>
        </p:nvSpPr>
        <p:spPr>
          <a:xfrm>
            <a:off x="1761769" y="5379624"/>
            <a:ext cx="13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Új </a:t>
            </a:r>
            <a:r>
              <a:rPr lang="hu-HU" dirty="0" err="1" smtClean="0"/>
              <a:t>katergória</a:t>
            </a:r>
            <a:endParaRPr lang="hu-HU" dirty="0"/>
          </a:p>
        </p:txBody>
      </p:sp>
      <p:sp>
        <p:nvSpPr>
          <p:cNvPr id="79" name="Lekerekített téglalap 78"/>
          <p:cNvSpPr/>
          <p:nvPr/>
        </p:nvSpPr>
        <p:spPr>
          <a:xfrm>
            <a:off x="8812368" y="6164936"/>
            <a:ext cx="1714500" cy="609600"/>
          </a:xfrm>
          <a:prstGeom prst="roundRect">
            <a:avLst>
              <a:gd name="adj" fmla="val 369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Mentés</a:t>
            </a:r>
            <a:endParaRPr lang="hu-HU" dirty="0"/>
          </a:p>
        </p:txBody>
      </p:sp>
      <p:sp>
        <p:nvSpPr>
          <p:cNvPr id="81" name="Cím 1"/>
          <p:cNvSpPr txBox="1">
            <a:spLocks/>
          </p:cNvSpPr>
          <p:nvPr/>
        </p:nvSpPr>
        <p:spPr>
          <a:xfrm>
            <a:off x="544835" y="-1488"/>
            <a:ext cx="10287000" cy="256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 smtClean="0"/>
              <a:t>Vezető felület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5528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487</Words>
  <Application>Microsoft Office PowerPoint</Application>
  <PresentationFormat>Szélesvásznú</PresentationFormat>
  <Paragraphs>307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Office-téma</vt:lpstr>
      <vt:lpstr>FT-operatori_naplo_projekt_0.1  Bodyshild+Adatszerkezet</vt:lpstr>
      <vt:lpstr>Adatbázis megvalósítás</vt:lpstr>
      <vt:lpstr>1.Ablak</vt:lpstr>
      <vt:lpstr>Operátor</vt:lpstr>
      <vt:lpstr>Operátor</vt:lpstr>
      <vt:lpstr>Operátori felület felvivő</vt:lpstr>
      <vt:lpstr>Vezető</vt:lpstr>
      <vt:lpstr>Vezető</vt:lpstr>
      <vt:lpstr>Vezető felület felvivő 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</dc:title>
  <dc:creator>Somogyi Tibor</dc:creator>
  <cp:lastModifiedBy>Somogyi Tibor</cp:lastModifiedBy>
  <cp:revision>30</cp:revision>
  <dcterms:created xsi:type="dcterms:W3CDTF">2022-06-09T14:43:14Z</dcterms:created>
  <dcterms:modified xsi:type="dcterms:W3CDTF">2022-06-10T11:08:59Z</dcterms:modified>
</cp:coreProperties>
</file>